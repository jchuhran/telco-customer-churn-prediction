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9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17" d="100"/>
          <a:sy n="117" d="100"/>
        </p:scale>
        <p:origin x="384" y="1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05637856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2E4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692640" y="-914400"/>
            <a:ext cx="2926080" cy="2926080"/>
          </a:xfrm>
          <a:prstGeom prst="ellipse">
            <a:avLst/>
          </a:prstGeom>
          <a:solidFill>
            <a:srgbClr val="1C7293">
              <a:alpha val="25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8595360" y="4023360"/>
            <a:ext cx="4023360" cy="4023360"/>
          </a:xfrm>
          <a:prstGeom prst="ellipse">
            <a:avLst/>
          </a:prstGeom>
          <a:solidFill>
            <a:srgbClr val="6FC3A0">
              <a:alpha val="15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731520" y="1965960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kern="0" spc="200" dirty="0">
                <a:solidFill>
                  <a:srgbClr val="6FC3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IT4793 CAPSTONE  ·  MILESTONE 1 PROGRESS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731520" y="2377440"/>
            <a:ext cx="105156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Telco Customer Churn Prediction</a:t>
            </a:r>
            <a:endParaRPr lang="en-US" sz="4200" dirty="0"/>
          </a:p>
        </p:txBody>
      </p:sp>
      <p:sp>
        <p:nvSpPr>
          <p:cNvPr id="6" name="Text 4"/>
          <p:cNvSpPr/>
          <p:nvPr/>
        </p:nvSpPr>
        <p:spPr>
          <a:xfrm>
            <a:off x="731520" y="3520440"/>
            <a:ext cx="9144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Predicting at-risk customers with machine learning to protect recurring revenue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731520" y="5943600"/>
            <a:ext cx="10058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Joshua Chuhran   ·   Doris Onyeanula   ·   Alex Clark   ·   Salman Baig   ·   Marshall Marlow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731520" y="6263640"/>
            <a:ext cx="10058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AA5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Kennesaw State University · College of Computing and Software Engineering · Fall 2026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B2E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Project Overview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48640" y="1051560"/>
            <a:ext cx="6035040" cy="18288"/>
          </a:xfrm>
          <a:prstGeom prst="rect">
            <a:avLst/>
          </a:prstGeom>
          <a:solidFill>
            <a:srgbClr val="F5F8F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548640" y="1371600"/>
            <a:ext cx="612648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2400"/>
              </a:lnSpc>
              <a:buNone/>
            </a:pPr>
            <a:r>
              <a:rPr lang="en-US" sz="1500" dirty="0">
                <a:solidFill>
                  <a:srgbClr val="1B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 churn — when a subscriber cancels service — directly erodes recurring telecom revenue. This project builds a predictive analytics pipeline that flags at-risk customers early, so retention teams can intervene before they leave.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548640" y="3017520"/>
            <a:ext cx="61264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2000"/>
              </a:lnSpc>
              <a:buNone/>
            </a:pPr>
            <a:r>
              <a:rPr lang="en-US" sz="1300" i="1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source: Kaggle Telco Customer Churn dataset (IBM), covering customer demographics, account tenure, and subscribed services.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7040880" y="1371600"/>
            <a:ext cx="1417320" cy="1417320"/>
          </a:xfrm>
          <a:prstGeom prst="roundRect">
            <a:avLst>
              <a:gd name="adj" fmla="val 7742"/>
            </a:avLst>
          </a:prstGeom>
          <a:solidFill>
            <a:srgbClr val="F5F8F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7040880" y="1481328"/>
            <a:ext cx="14173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1C729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7,000+</a:t>
            </a:r>
            <a:endParaRPr lang="en-US" sz="2600" dirty="0"/>
          </a:p>
        </p:txBody>
      </p:sp>
      <p:sp>
        <p:nvSpPr>
          <p:cNvPr id="8" name="Text 6"/>
          <p:cNvSpPr/>
          <p:nvPr/>
        </p:nvSpPr>
        <p:spPr>
          <a:xfrm>
            <a:off x="7132320" y="2148840"/>
            <a:ext cx="1234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 records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8641080" y="1371600"/>
            <a:ext cx="1417320" cy="1417320"/>
          </a:xfrm>
          <a:prstGeom prst="roundRect">
            <a:avLst>
              <a:gd name="adj" fmla="val 7742"/>
            </a:avLst>
          </a:prstGeom>
          <a:solidFill>
            <a:srgbClr val="F5F8F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8641080" y="1481328"/>
            <a:ext cx="14173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6FC3A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2600" dirty="0"/>
          </a:p>
        </p:txBody>
      </p:sp>
      <p:sp>
        <p:nvSpPr>
          <p:cNvPr id="11" name="Text 9"/>
          <p:cNvSpPr/>
          <p:nvPr/>
        </p:nvSpPr>
        <p:spPr>
          <a:xfrm>
            <a:off x="8732520" y="2148840"/>
            <a:ext cx="1234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ML models planned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10241280" y="1371600"/>
            <a:ext cx="1417320" cy="1417320"/>
          </a:xfrm>
          <a:prstGeom prst="roundRect">
            <a:avLst>
              <a:gd name="adj" fmla="val 7742"/>
            </a:avLst>
          </a:prstGeom>
          <a:solidFill>
            <a:srgbClr val="F5F8F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10241280" y="1481328"/>
            <a:ext cx="14173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E8A3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2600" dirty="0"/>
          </a:p>
        </p:txBody>
      </p:sp>
      <p:sp>
        <p:nvSpPr>
          <p:cNvPr id="14" name="Text 12"/>
          <p:cNvSpPr/>
          <p:nvPr/>
        </p:nvSpPr>
        <p:spPr>
          <a:xfrm>
            <a:off x="10332720" y="2148840"/>
            <a:ext cx="1234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success metrics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7040880" y="3063240"/>
            <a:ext cx="4526280" cy="2743200"/>
          </a:xfrm>
          <a:prstGeom prst="roundRect">
            <a:avLst>
              <a:gd name="adj" fmla="val 3333"/>
            </a:avLst>
          </a:prstGeom>
          <a:solidFill>
            <a:srgbClr val="0B2E4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7315200" y="3246120"/>
            <a:ext cx="4023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6FC3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Analytical Approach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7315200" y="3703320"/>
            <a:ext cx="402336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ts val="2200"/>
              </a:lnSpc>
              <a:buSzPct val="100000"/>
              <a:buChar char="▪"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Logistic Regression, Random Forest, XGBoost</a:t>
            </a:r>
            <a:endParaRPr lang="en-US" sz="1250" dirty="0"/>
          </a:p>
          <a:p>
            <a:pPr marL="342900" indent="-342900">
              <a:lnSpc>
                <a:spcPts val="2200"/>
              </a:lnSpc>
              <a:buSzPct val="100000"/>
              <a:buChar char="▪"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Evaluated on F1-Score &amp; PR-AUC</a:t>
            </a:r>
            <a:endParaRPr lang="en-US" sz="1250" dirty="0"/>
          </a:p>
          <a:p>
            <a:pPr marL="342900" indent="-342900">
              <a:lnSpc>
                <a:spcPts val="2200"/>
              </a:lnSpc>
              <a:buSzPct val="100000"/>
              <a:buChar char="▪"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Python: Pandas, NumPy, Scikit-Learn</a:t>
            </a:r>
            <a:endParaRPr lang="en-US" sz="1250" dirty="0"/>
          </a:p>
          <a:p>
            <a:pPr marL="342900" indent="-342900">
              <a:lnSpc>
                <a:spcPts val="2200"/>
              </a:lnSpc>
              <a:buSzPct val="100000"/>
              <a:buChar char="▪"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Jupyter Notebooks + GitHub version control</a:t>
            </a:r>
            <a:endParaRPr lang="en-US" sz="1250" dirty="0"/>
          </a:p>
        </p:txBody>
      </p:sp>
      <p:sp>
        <p:nvSpPr>
          <p:cNvPr id="18" name="Text 16"/>
          <p:cNvSpPr/>
          <p:nvPr/>
        </p:nvSpPr>
        <p:spPr>
          <a:xfrm>
            <a:off x="457200" y="651052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Telco Customer Churn Prediction  |  Milestone 1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11521440" y="651052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B2E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Project Team &amp; Roles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48640" y="1051560"/>
            <a:ext cx="11064240" cy="18288"/>
          </a:xfrm>
          <a:prstGeom prst="rect">
            <a:avLst/>
          </a:prstGeom>
          <a:solidFill>
            <a:srgbClr val="F5F8F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548640" y="1417320"/>
            <a:ext cx="2139696" cy="3566160"/>
          </a:xfrm>
          <a:prstGeom prst="roundRect">
            <a:avLst>
              <a:gd name="adj" fmla="val 4274"/>
            </a:avLst>
          </a:prstGeom>
          <a:solidFill>
            <a:srgbClr val="F5F8F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1207008" y="1783080"/>
            <a:ext cx="822960" cy="822960"/>
          </a:xfrm>
          <a:prstGeom prst="ellipse">
            <a:avLst/>
          </a:prstGeom>
          <a:solidFill>
            <a:srgbClr val="1C729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1207008" y="1783080"/>
            <a:ext cx="822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JC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685800" y="2788920"/>
            <a:ext cx="186537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B2E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Joshua Chuhran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731520" y="3337560"/>
            <a:ext cx="1773936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ts val="1600"/>
              </a:lnSpc>
              <a:buNone/>
            </a:pPr>
            <a:r>
              <a:rPr lang="en-US" sz="115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 Leader &amp; Project Management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2825496" y="1417320"/>
            <a:ext cx="2139696" cy="3566160"/>
          </a:xfrm>
          <a:prstGeom prst="roundRect">
            <a:avLst>
              <a:gd name="adj" fmla="val 4274"/>
            </a:avLst>
          </a:prstGeom>
          <a:solidFill>
            <a:srgbClr val="F5F8F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Shape 8"/>
          <p:cNvSpPr/>
          <p:nvPr/>
        </p:nvSpPr>
        <p:spPr>
          <a:xfrm>
            <a:off x="3483864" y="1783080"/>
            <a:ext cx="822960" cy="822960"/>
          </a:xfrm>
          <a:prstGeom prst="ellipse">
            <a:avLst/>
          </a:prstGeom>
          <a:solidFill>
            <a:srgbClr val="6FC3A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3483864" y="1783080"/>
            <a:ext cx="822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2962656" y="2788920"/>
            <a:ext cx="186537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B2E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Doris Onyeanula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3008376" y="3337560"/>
            <a:ext cx="1773936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ts val="1600"/>
              </a:lnSpc>
              <a:buNone/>
            </a:pPr>
            <a:r>
              <a:rPr lang="en-US" sz="115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Acquisition &amp; Results Visualization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5102352" y="1417320"/>
            <a:ext cx="2139696" cy="3566160"/>
          </a:xfrm>
          <a:prstGeom prst="roundRect">
            <a:avLst>
              <a:gd name="adj" fmla="val 4274"/>
            </a:avLst>
          </a:prstGeom>
          <a:solidFill>
            <a:srgbClr val="F5F8F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5" name="Shape 13"/>
          <p:cNvSpPr/>
          <p:nvPr/>
        </p:nvSpPr>
        <p:spPr>
          <a:xfrm>
            <a:off x="5760720" y="1783080"/>
            <a:ext cx="822960" cy="822960"/>
          </a:xfrm>
          <a:prstGeom prst="ellipse">
            <a:avLst/>
          </a:prstGeom>
          <a:solidFill>
            <a:srgbClr val="E8A33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5760720" y="1783080"/>
            <a:ext cx="822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</a:t>
            </a:r>
            <a:endParaRPr lang="en-US" sz="2000" dirty="0"/>
          </a:p>
        </p:txBody>
      </p:sp>
      <p:sp>
        <p:nvSpPr>
          <p:cNvPr id="17" name="Text 15"/>
          <p:cNvSpPr/>
          <p:nvPr/>
        </p:nvSpPr>
        <p:spPr>
          <a:xfrm>
            <a:off x="5239512" y="2788920"/>
            <a:ext cx="186537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B2E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Alex Clark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5285232" y="3337560"/>
            <a:ext cx="1773936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ts val="1600"/>
              </a:lnSpc>
              <a:buNone/>
            </a:pPr>
            <a:r>
              <a:rPr lang="en-US" sz="115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Exploratory Data Analysis &amp; Documentation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7379208" y="1417320"/>
            <a:ext cx="2139696" cy="3566160"/>
          </a:xfrm>
          <a:prstGeom prst="roundRect">
            <a:avLst>
              <a:gd name="adj" fmla="val 4274"/>
            </a:avLst>
          </a:prstGeom>
          <a:solidFill>
            <a:srgbClr val="F5F8F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0" name="Shape 18"/>
          <p:cNvSpPr/>
          <p:nvPr/>
        </p:nvSpPr>
        <p:spPr>
          <a:xfrm>
            <a:off x="8037576" y="1783080"/>
            <a:ext cx="822960" cy="822960"/>
          </a:xfrm>
          <a:prstGeom prst="ellipse">
            <a:avLst/>
          </a:prstGeom>
          <a:solidFill>
            <a:srgbClr val="1C729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8037576" y="1783080"/>
            <a:ext cx="822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SB</a:t>
            </a:r>
            <a:endParaRPr lang="en-US" sz="2000" dirty="0"/>
          </a:p>
        </p:txBody>
      </p:sp>
      <p:sp>
        <p:nvSpPr>
          <p:cNvPr id="22" name="Text 20"/>
          <p:cNvSpPr/>
          <p:nvPr/>
        </p:nvSpPr>
        <p:spPr>
          <a:xfrm>
            <a:off x="7516368" y="2788920"/>
            <a:ext cx="186537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B2E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Salman Baig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7562088" y="3337560"/>
            <a:ext cx="1773936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ts val="1600"/>
              </a:lnSpc>
              <a:buNone/>
            </a:pPr>
            <a:r>
              <a:rPr lang="en-US" sz="115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Preprocessing &amp; ML Model Tuning</a:t>
            </a:r>
            <a:endParaRPr lang="en-US" sz="1150" dirty="0"/>
          </a:p>
        </p:txBody>
      </p:sp>
      <p:sp>
        <p:nvSpPr>
          <p:cNvPr id="24" name="Shape 22"/>
          <p:cNvSpPr/>
          <p:nvPr/>
        </p:nvSpPr>
        <p:spPr>
          <a:xfrm>
            <a:off x="9656064" y="1417320"/>
            <a:ext cx="2139696" cy="3566160"/>
          </a:xfrm>
          <a:prstGeom prst="roundRect">
            <a:avLst>
              <a:gd name="adj" fmla="val 4274"/>
            </a:avLst>
          </a:prstGeom>
          <a:solidFill>
            <a:srgbClr val="F5F8F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5" name="Shape 23"/>
          <p:cNvSpPr/>
          <p:nvPr/>
        </p:nvSpPr>
        <p:spPr>
          <a:xfrm>
            <a:off x="10314432" y="1783080"/>
            <a:ext cx="822960" cy="822960"/>
          </a:xfrm>
          <a:prstGeom prst="ellipse">
            <a:avLst/>
          </a:prstGeom>
          <a:solidFill>
            <a:srgbClr val="6FC3A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6" name="Text 24"/>
          <p:cNvSpPr/>
          <p:nvPr/>
        </p:nvSpPr>
        <p:spPr>
          <a:xfrm>
            <a:off x="10314432" y="1783080"/>
            <a:ext cx="822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MM</a:t>
            </a:r>
            <a:endParaRPr lang="en-US" sz="2000" dirty="0"/>
          </a:p>
        </p:txBody>
      </p:sp>
      <p:sp>
        <p:nvSpPr>
          <p:cNvPr id="27" name="Text 25"/>
          <p:cNvSpPr/>
          <p:nvPr/>
        </p:nvSpPr>
        <p:spPr>
          <a:xfrm>
            <a:off x="9793224" y="2788920"/>
            <a:ext cx="186537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B2E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Marshall Marlow</a:t>
            </a:r>
            <a:endParaRPr lang="en-US" sz="1400" dirty="0"/>
          </a:p>
        </p:txBody>
      </p:sp>
      <p:sp>
        <p:nvSpPr>
          <p:cNvPr id="28" name="Text 26"/>
          <p:cNvSpPr/>
          <p:nvPr/>
        </p:nvSpPr>
        <p:spPr>
          <a:xfrm>
            <a:off x="9838944" y="3337560"/>
            <a:ext cx="1773936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ts val="1600"/>
              </a:lnSpc>
              <a:buNone/>
            </a:pPr>
            <a:r>
              <a:rPr lang="en-US" sz="115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 Engineering &amp; Model Evaluation</a:t>
            </a:r>
            <a:endParaRPr lang="en-US" sz="1150" dirty="0"/>
          </a:p>
        </p:txBody>
      </p:sp>
      <p:sp>
        <p:nvSpPr>
          <p:cNvPr id="29" name="Text 27"/>
          <p:cNvSpPr/>
          <p:nvPr/>
        </p:nvSpPr>
        <p:spPr>
          <a:xfrm>
            <a:off x="548640" y="525780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i="1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Advisor: Arindam Khanda  ·  Weekly syncs via Microsoft Teams  ·  24-hour response expectation</a:t>
            </a:r>
            <a:endParaRPr lang="en-US" sz="1200" dirty="0"/>
          </a:p>
        </p:txBody>
      </p:sp>
      <p:sp>
        <p:nvSpPr>
          <p:cNvPr id="30" name="Text 28"/>
          <p:cNvSpPr/>
          <p:nvPr/>
        </p:nvSpPr>
        <p:spPr>
          <a:xfrm>
            <a:off x="457200" y="651052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Telco Customer Churn Prediction  |  Milestone 1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11521440" y="651052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B2E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Milestone Roadmap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48640" y="1051560"/>
            <a:ext cx="11064240" cy="18288"/>
          </a:xfrm>
          <a:prstGeom prst="rect">
            <a:avLst/>
          </a:prstGeom>
          <a:solidFill>
            <a:srgbClr val="F5F8F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1691640" y="2743200"/>
            <a:ext cx="8778240" cy="0"/>
          </a:xfrm>
          <a:prstGeom prst="line">
            <a:avLst/>
          </a:prstGeom>
          <a:noFill/>
          <a:ln w="25400">
            <a:solidFill>
              <a:srgbClr val="9AA5B1"/>
            </a:solidFill>
            <a:prstDash val="dash"/>
          </a:ln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1563624" y="2615184"/>
            <a:ext cx="256032" cy="256032"/>
          </a:xfrm>
          <a:prstGeom prst="ellipse">
            <a:avLst/>
          </a:prstGeom>
          <a:solidFill>
            <a:srgbClr val="0B2E4A"/>
          </a:solidFill>
          <a:ln w="254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182880" y="3063240"/>
            <a:ext cx="3017520" cy="2331720"/>
          </a:xfrm>
          <a:prstGeom prst="roundRect">
            <a:avLst>
              <a:gd name="adj" fmla="val 3922"/>
            </a:avLst>
          </a:prstGeom>
          <a:solidFill>
            <a:srgbClr val="0B2E4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411480" y="3246120"/>
            <a:ext cx="2560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Milestone #1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411480" y="3611880"/>
            <a:ext cx="2560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6FC3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Sep 25, 2026</a:t>
            </a:r>
            <a:endParaRPr lang="en-US" sz="1250" dirty="0"/>
          </a:p>
        </p:txBody>
      </p:sp>
      <p:sp>
        <p:nvSpPr>
          <p:cNvPr id="9" name="Text 7"/>
          <p:cNvSpPr/>
          <p:nvPr/>
        </p:nvSpPr>
        <p:spPr>
          <a:xfrm>
            <a:off x="411480" y="4023360"/>
            <a:ext cx="256032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500"/>
              </a:lnSpc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Plan · Repo Setup · Preliminary Exploration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411480" y="5074920"/>
            <a:ext cx="1645920" cy="274320"/>
          </a:xfrm>
          <a:prstGeom prst="roundRect">
            <a:avLst>
              <a:gd name="adj" fmla="val 50000"/>
            </a:avLst>
          </a:prstGeom>
          <a:solidFill>
            <a:srgbClr val="E8A33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411480" y="5074920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0B2E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 ARE HERE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5952744" y="2615184"/>
            <a:ext cx="256032" cy="256032"/>
          </a:xfrm>
          <a:prstGeom prst="ellipse">
            <a:avLst/>
          </a:prstGeom>
          <a:solidFill>
            <a:srgbClr val="5C6B7A"/>
          </a:solidFill>
          <a:ln w="254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Shape 11"/>
          <p:cNvSpPr/>
          <p:nvPr/>
        </p:nvSpPr>
        <p:spPr>
          <a:xfrm>
            <a:off x="4572000" y="3063240"/>
            <a:ext cx="3017520" cy="2331720"/>
          </a:xfrm>
          <a:prstGeom prst="roundRect">
            <a:avLst>
              <a:gd name="adj" fmla="val 3922"/>
            </a:avLst>
          </a:prstGeom>
          <a:solidFill>
            <a:srgbClr val="F5F8F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4800600" y="3246120"/>
            <a:ext cx="2560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B2E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Milestone #2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4800600" y="3611880"/>
            <a:ext cx="2560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Oct 20, 2026</a:t>
            </a:r>
            <a:endParaRPr lang="en-US" sz="1250" dirty="0"/>
          </a:p>
        </p:txBody>
      </p:sp>
      <p:sp>
        <p:nvSpPr>
          <p:cNvPr id="16" name="Text 14"/>
          <p:cNvSpPr/>
          <p:nvPr/>
        </p:nvSpPr>
        <p:spPr>
          <a:xfrm>
            <a:off x="4800600" y="4023360"/>
            <a:ext cx="256032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500"/>
              </a:lnSpc>
              <a:buNone/>
            </a:pPr>
            <a:r>
              <a:rPr lang="en-US" sz="110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 Engineering · Baseline Model · Diagnostics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10341864" y="2615184"/>
            <a:ext cx="256032" cy="256032"/>
          </a:xfrm>
          <a:prstGeom prst="ellipse">
            <a:avLst/>
          </a:prstGeom>
          <a:solidFill>
            <a:srgbClr val="5C6B7A"/>
          </a:solidFill>
          <a:ln w="254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Shape 16"/>
          <p:cNvSpPr/>
          <p:nvPr/>
        </p:nvSpPr>
        <p:spPr>
          <a:xfrm>
            <a:off x="8961120" y="3063240"/>
            <a:ext cx="3017520" cy="2331720"/>
          </a:xfrm>
          <a:prstGeom prst="roundRect">
            <a:avLst>
              <a:gd name="adj" fmla="val 3922"/>
            </a:avLst>
          </a:prstGeom>
          <a:solidFill>
            <a:srgbClr val="F5F8F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9189720" y="3246120"/>
            <a:ext cx="2560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B2E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Milestone #3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9189720" y="3611880"/>
            <a:ext cx="2560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Nov 10, 2026</a:t>
            </a:r>
            <a:endParaRPr lang="en-US" sz="1250" dirty="0"/>
          </a:p>
        </p:txBody>
      </p:sp>
      <p:sp>
        <p:nvSpPr>
          <p:cNvPr id="21" name="Text 19"/>
          <p:cNvSpPr/>
          <p:nvPr/>
        </p:nvSpPr>
        <p:spPr>
          <a:xfrm>
            <a:off x="9189720" y="4023360"/>
            <a:ext cx="256032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500"/>
              </a:lnSpc>
              <a:buNone/>
            </a:pPr>
            <a:r>
              <a:rPr lang="en-US" sz="110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Advanced Tuning · Evaluation (F1 / PR-AUC) · Draft Docs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457200" y="651052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Telco Customer Churn Prediction  |  Milestone 1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11521440" y="651052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B2E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Progress by Work Area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48640" y="91440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the project workload tracker &amp; Gantt chart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548640" y="1508760"/>
            <a:ext cx="5943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B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Planning &amp; Governance</a:t>
            </a:r>
            <a:endParaRPr lang="en-US" sz="1350" dirty="0"/>
          </a:p>
        </p:txBody>
      </p:sp>
      <p:sp>
        <p:nvSpPr>
          <p:cNvPr id="5" name="Text 3"/>
          <p:cNvSpPr/>
          <p:nvPr/>
        </p:nvSpPr>
        <p:spPr>
          <a:xfrm>
            <a:off x="7498080" y="1508760"/>
            <a:ext cx="914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350" b="1" dirty="0">
                <a:solidFill>
                  <a:srgbClr val="6FC3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100%</a:t>
            </a:r>
            <a:endParaRPr lang="en-US" sz="1350" dirty="0"/>
          </a:p>
        </p:txBody>
      </p:sp>
      <p:sp>
        <p:nvSpPr>
          <p:cNvPr id="6" name="Shape 4"/>
          <p:cNvSpPr/>
          <p:nvPr/>
        </p:nvSpPr>
        <p:spPr>
          <a:xfrm>
            <a:off x="548640" y="1874520"/>
            <a:ext cx="7863840" cy="201168"/>
          </a:xfrm>
          <a:prstGeom prst="roundRect">
            <a:avLst>
              <a:gd name="adj" fmla="val 50000"/>
            </a:avLst>
          </a:prstGeom>
          <a:solidFill>
            <a:srgbClr val="F5F8F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548640" y="1874520"/>
            <a:ext cx="7863840" cy="201168"/>
          </a:xfrm>
          <a:prstGeom prst="roundRect">
            <a:avLst>
              <a:gd name="adj" fmla="val 50000"/>
            </a:avLst>
          </a:prstGeom>
          <a:solidFill>
            <a:srgbClr val="6FC3A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548640" y="2468880"/>
            <a:ext cx="5943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B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Engineering &amp; EDA</a:t>
            </a:r>
            <a:endParaRPr lang="en-US" sz="1350" dirty="0"/>
          </a:p>
        </p:txBody>
      </p:sp>
      <p:sp>
        <p:nvSpPr>
          <p:cNvPr id="9" name="Text 7"/>
          <p:cNvSpPr/>
          <p:nvPr/>
        </p:nvSpPr>
        <p:spPr>
          <a:xfrm>
            <a:off x="7498080" y="2468880"/>
            <a:ext cx="914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350" b="1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17%</a:t>
            </a:r>
            <a:endParaRPr lang="en-US" sz="1350" dirty="0"/>
          </a:p>
        </p:txBody>
      </p:sp>
      <p:sp>
        <p:nvSpPr>
          <p:cNvPr id="10" name="Shape 8"/>
          <p:cNvSpPr/>
          <p:nvPr/>
        </p:nvSpPr>
        <p:spPr>
          <a:xfrm>
            <a:off x="548640" y="2834640"/>
            <a:ext cx="7863840" cy="201168"/>
          </a:xfrm>
          <a:prstGeom prst="roundRect">
            <a:avLst>
              <a:gd name="adj" fmla="val 50000"/>
            </a:avLst>
          </a:prstGeom>
          <a:solidFill>
            <a:srgbClr val="F5F8F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Shape 9"/>
          <p:cNvSpPr/>
          <p:nvPr/>
        </p:nvSpPr>
        <p:spPr>
          <a:xfrm>
            <a:off x="548640" y="2834640"/>
            <a:ext cx="1336853" cy="201168"/>
          </a:xfrm>
          <a:prstGeom prst="roundRect">
            <a:avLst>
              <a:gd name="adj" fmla="val 50000"/>
            </a:avLst>
          </a:prstGeom>
          <a:solidFill>
            <a:srgbClr val="E8A33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548640" y="3429000"/>
            <a:ext cx="5943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B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Predictive Modeling &amp; Evaluation</a:t>
            </a:r>
            <a:endParaRPr lang="en-US" sz="1350" dirty="0"/>
          </a:p>
        </p:txBody>
      </p:sp>
      <p:sp>
        <p:nvSpPr>
          <p:cNvPr id="13" name="Text 11"/>
          <p:cNvSpPr/>
          <p:nvPr/>
        </p:nvSpPr>
        <p:spPr>
          <a:xfrm>
            <a:off x="7498080" y="3429000"/>
            <a:ext cx="914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350" b="1" dirty="0">
                <a:solidFill>
                  <a:srgbClr val="9AA5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0%</a:t>
            </a:r>
            <a:endParaRPr lang="en-US" sz="1350" dirty="0"/>
          </a:p>
        </p:txBody>
      </p:sp>
      <p:sp>
        <p:nvSpPr>
          <p:cNvPr id="14" name="Shape 12"/>
          <p:cNvSpPr/>
          <p:nvPr/>
        </p:nvSpPr>
        <p:spPr>
          <a:xfrm>
            <a:off x="548640" y="3794760"/>
            <a:ext cx="7863840" cy="201168"/>
          </a:xfrm>
          <a:prstGeom prst="roundRect">
            <a:avLst>
              <a:gd name="adj" fmla="val 50000"/>
            </a:avLst>
          </a:prstGeom>
          <a:solidFill>
            <a:srgbClr val="F5F8F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548640" y="4389120"/>
            <a:ext cx="5943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B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Results Analysis &amp; Final Documentation</a:t>
            </a:r>
            <a:endParaRPr lang="en-US" sz="1350" dirty="0"/>
          </a:p>
        </p:txBody>
      </p:sp>
      <p:sp>
        <p:nvSpPr>
          <p:cNvPr id="16" name="Text 14"/>
          <p:cNvSpPr/>
          <p:nvPr/>
        </p:nvSpPr>
        <p:spPr>
          <a:xfrm>
            <a:off x="7498080" y="4389120"/>
            <a:ext cx="914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350" b="1" dirty="0">
                <a:solidFill>
                  <a:srgbClr val="9AA5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0%</a:t>
            </a:r>
            <a:endParaRPr lang="en-US" sz="1350" dirty="0"/>
          </a:p>
        </p:txBody>
      </p:sp>
      <p:sp>
        <p:nvSpPr>
          <p:cNvPr id="17" name="Shape 15"/>
          <p:cNvSpPr/>
          <p:nvPr/>
        </p:nvSpPr>
        <p:spPr>
          <a:xfrm>
            <a:off x="548640" y="4754880"/>
            <a:ext cx="7863840" cy="201168"/>
          </a:xfrm>
          <a:prstGeom prst="roundRect">
            <a:avLst>
              <a:gd name="adj" fmla="val 50000"/>
            </a:avLst>
          </a:prstGeom>
          <a:solidFill>
            <a:srgbClr val="F5F8F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8" name="Shape 16"/>
          <p:cNvSpPr/>
          <p:nvPr/>
        </p:nvSpPr>
        <p:spPr>
          <a:xfrm>
            <a:off x="8778240" y="1508760"/>
            <a:ext cx="2834640" cy="3931920"/>
          </a:xfrm>
          <a:prstGeom prst="roundRect">
            <a:avLst>
              <a:gd name="adj" fmla="val 3226"/>
            </a:avLst>
          </a:prstGeom>
          <a:solidFill>
            <a:srgbClr val="0B2E4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9006840" y="1691640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6FC3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Milestone 1 Snapshot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9006840" y="2240280"/>
            <a:ext cx="128016" cy="128016"/>
          </a:xfrm>
          <a:prstGeom prst="ellipse">
            <a:avLst/>
          </a:prstGeom>
          <a:solidFill>
            <a:srgbClr val="6FC3A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9235440" y="2194560"/>
            <a:ext cx="2148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Plan</a:t>
            </a:r>
            <a:endParaRPr lang="en-US" sz="1150" dirty="0"/>
          </a:p>
        </p:txBody>
      </p:sp>
      <p:sp>
        <p:nvSpPr>
          <p:cNvPr id="22" name="Text 20"/>
          <p:cNvSpPr/>
          <p:nvPr/>
        </p:nvSpPr>
        <p:spPr>
          <a:xfrm>
            <a:off x="9235440" y="2441448"/>
            <a:ext cx="2148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FC3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Complete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9006840" y="2862072"/>
            <a:ext cx="128016" cy="128016"/>
          </a:xfrm>
          <a:prstGeom prst="ellipse">
            <a:avLst/>
          </a:prstGeom>
          <a:solidFill>
            <a:srgbClr val="6FC3A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4" name="Text 22"/>
          <p:cNvSpPr/>
          <p:nvPr/>
        </p:nvSpPr>
        <p:spPr>
          <a:xfrm>
            <a:off x="9235440" y="2816352"/>
            <a:ext cx="2148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 Setup</a:t>
            </a:r>
            <a:endParaRPr lang="en-US" sz="1150" dirty="0"/>
          </a:p>
        </p:txBody>
      </p:sp>
      <p:sp>
        <p:nvSpPr>
          <p:cNvPr id="25" name="Text 23"/>
          <p:cNvSpPr/>
          <p:nvPr/>
        </p:nvSpPr>
        <p:spPr>
          <a:xfrm>
            <a:off x="9235440" y="3063240"/>
            <a:ext cx="2148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FC3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Complete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9006840" y="3483864"/>
            <a:ext cx="128016" cy="128016"/>
          </a:xfrm>
          <a:prstGeom prst="ellipse">
            <a:avLst/>
          </a:prstGeom>
          <a:solidFill>
            <a:srgbClr val="6FC3A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7" name="Text 25"/>
          <p:cNvSpPr/>
          <p:nvPr/>
        </p:nvSpPr>
        <p:spPr>
          <a:xfrm>
            <a:off x="9235440" y="3438144"/>
            <a:ext cx="2148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Gantt Chart</a:t>
            </a:r>
            <a:endParaRPr lang="en-US" sz="1150" dirty="0"/>
          </a:p>
        </p:txBody>
      </p:sp>
      <p:sp>
        <p:nvSpPr>
          <p:cNvPr id="28" name="Text 26"/>
          <p:cNvSpPr/>
          <p:nvPr/>
        </p:nvSpPr>
        <p:spPr>
          <a:xfrm>
            <a:off x="9235440" y="3685032"/>
            <a:ext cx="2148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FC3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Complete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9006840" y="4105656"/>
            <a:ext cx="128016" cy="128016"/>
          </a:xfrm>
          <a:prstGeom prst="ellipse">
            <a:avLst/>
          </a:prstGeom>
          <a:solidFill>
            <a:srgbClr val="E8A33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0" name="Text 28"/>
          <p:cNvSpPr/>
          <p:nvPr/>
        </p:nvSpPr>
        <p:spPr>
          <a:xfrm>
            <a:off x="9235440" y="4059936"/>
            <a:ext cx="2148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Dataset Acquisition</a:t>
            </a:r>
            <a:endParaRPr lang="en-US" sz="1150" dirty="0"/>
          </a:p>
        </p:txBody>
      </p:sp>
      <p:sp>
        <p:nvSpPr>
          <p:cNvPr id="31" name="Text 29"/>
          <p:cNvSpPr/>
          <p:nvPr/>
        </p:nvSpPr>
        <p:spPr>
          <a:xfrm>
            <a:off x="9235440" y="4306824"/>
            <a:ext cx="2148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Progress</a:t>
            </a:r>
            <a:endParaRPr lang="en-US" sz="1000" dirty="0"/>
          </a:p>
        </p:txBody>
      </p:sp>
      <p:sp>
        <p:nvSpPr>
          <p:cNvPr id="32" name="Shape 30"/>
          <p:cNvSpPr/>
          <p:nvPr/>
        </p:nvSpPr>
        <p:spPr>
          <a:xfrm>
            <a:off x="9006840" y="4727448"/>
            <a:ext cx="128016" cy="128016"/>
          </a:xfrm>
          <a:prstGeom prst="ellipse">
            <a:avLst/>
          </a:prstGeom>
          <a:solidFill>
            <a:srgbClr val="9AA5B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3" name="Text 31"/>
          <p:cNvSpPr/>
          <p:nvPr/>
        </p:nvSpPr>
        <p:spPr>
          <a:xfrm>
            <a:off x="9235440" y="4681728"/>
            <a:ext cx="2148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Exploration</a:t>
            </a:r>
            <a:endParaRPr lang="en-US" sz="1150" dirty="0"/>
          </a:p>
        </p:txBody>
      </p:sp>
      <p:sp>
        <p:nvSpPr>
          <p:cNvPr id="34" name="Text 32"/>
          <p:cNvSpPr/>
          <p:nvPr/>
        </p:nvSpPr>
        <p:spPr>
          <a:xfrm>
            <a:off x="9235440" y="4928616"/>
            <a:ext cx="2148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AA5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Started</a:t>
            </a:r>
            <a:endParaRPr lang="en-US" sz="1000" dirty="0"/>
          </a:p>
        </p:txBody>
      </p:sp>
      <p:sp>
        <p:nvSpPr>
          <p:cNvPr id="35" name="Text 33"/>
          <p:cNvSpPr/>
          <p:nvPr/>
        </p:nvSpPr>
        <p:spPr>
          <a:xfrm>
            <a:off x="457200" y="651052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Telco Customer Churn Prediction  |  Milestone 1</a:t>
            </a:r>
            <a:endParaRPr lang="en-US" sz="900" dirty="0"/>
          </a:p>
        </p:txBody>
      </p:sp>
      <p:sp>
        <p:nvSpPr>
          <p:cNvPr id="36" name="Text 34"/>
          <p:cNvSpPr/>
          <p:nvPr/>
        </p:nvSpPr>
        <p:spPr>
          <a:xfrm>
            <a:off x="11521440" y="651052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B2E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Milestone 1 Deliverables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48640" y="1051560"/>
            <a:ext cx="11064240" cy="18288"/>
          </a:xfrm>
          <a:prstGeom prst="rect">
            <a:avLst/>
          </a:prstGeom>
          <a:solidFill>
            <a:srgbClr val="F5F8F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548640" y="1371600"/>
            <a:ext cx="5486400" cy="2194560"/>
          </a:xfrm>
          <a:prstGeom prst="roundRect">
            <a:avLst>
              <a:gd name="adj" fmla="val 4167"/>
            </a:avLst>
          </a:prstGeom>
          <a:solidFill>
            <a:srgbClr val="F5F8F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777240" y="1600200"/>
            <a:ext cx="1371600" cy="365760"/>
          </a:xfrm>
          <a:prstGeom prst="roundRect">
            <a:avLst>
              <a:gd name="adj" fmla="val 50000"/>
            </a:avLst>
          </a:prstGeom>
          <a:solidFill>
            <a:srgbClr val="6FC3A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777240" y="1600200"/>
            <a:ext cx="1371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0B2E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Complete</a:t>
            </a:r>
            <a:endParaRPr lang="en-US" sz="1050" dirty="0"/>
          </a:p>
        </p:txBody>
      </p:sp>
      <p:sp>
        <p:nvSpPr>
          <p:cNvPr id="7" name="Text 5"/>
          <p:cNvSpPr/>
          <p:nvPr/>
        </p:nvSpPr>
        <p:spPr>
          <a:xfrm>
            <a:off x="777240" y="2057400"/>
            <a:ext cx="5029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0B2E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Project Plan</a:t>
            </a:r>
            <a:endParaRPr lang="en-US" sz="1550" dirty="0"/>
          </a:p>
        </p:txBody>
      </p:sp>
      <p:sp>
        <p:nvSpPr>
          <p:cNvPr id="8" name="Text 6"/>
          <p:cNvSpPr/>
          <p:nvPr/>
        </p:nvSpPr>
        <p:spPr>
          <a:xfrm>
            <a:off x="777240" y="2514600"/>
            <a:ext cx="50292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700"/>
              </a:lnSpc>
              <a:buNone/>
            </a:pPr>
            <a:r>
              <a:rPr lang="en-US" sz="120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Scope, team roles, communication plan, and milestone schedule finalized and published to the repo.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6172200" y="1371600"/>
            <a:ext cx="5486400" cy="2194560"/>
          </a:xfrm>
          <a:prstGeom prst="roundRect">
            <a:avLst>
              <a:gd name="adj" fmla="val 4167"/>
            </a:avLst>
          </a:prstGeom>
          <a:solidFill>
            <a:srgbClr val="F5F8F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Shape 8"/>
          <p:cNvSpPr/>
          <p:nvPr/>
        </p:nvSpPr>
        <p:spPr>
          <a:xfrm>
            <a:off x="6400800" y="1600200"/>
            <a:ext cx="1371600" cy="365760"/>
          </a:xfrm>
          <a:prstGeom prst="roundRect">
            <a:avLst>
              <a:gd name="adj" fmla="val 50000"/>
            </a:avLst>
          </a:prstGeom>
          <a:solidFill>
            <a:srgbClr val="6FC3A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6400800" y="1600200"/>
            <a:ext cx="1371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0B2E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Complete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6400800" y="2057400"/>
            <a:ext cx="5029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0B2E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GitHub Repository Setup</a:t>
            </a:r>
            <a:endParaRPr lang="en-US" sz="1550" dirty="0"/>
          </a:p>
        </p:txBody>
      </p:sp>
      <p:sp>
        <p:nvSpPr>
          <p:cNvPr id="13" name="Text 11"/>
          <p:cNvSpPr/>
          <p:nvPr/>
        </p:nvSpPr>
        <p:spPr>
          <a:xfrm>
            <a:off x="6400800" y="2514600"/>
            <a:ext cx="50292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700"/>
              </a:lnSpc>
              <a:buNone/>
            </a:pPr>
            <a:r>
              <a:rPr lang="en-US" sz="120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Repository structured with Data, Deliverables, and Project_Planning folders; version control active.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548640" y="3794760"/>
            <a:ext cx="5486400" cy="2194560"/>
          </a:xfrm>
          <a:prstGeom prst="roundRect">
            <a:avLst>
              <a:gd name="adj" fmla="val 4167"/>
            </a:avLst>
          </a:prstGeom>
          <a:solidFill>
            <a:srgbClr val="F5F8F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5" name="Shape 13"/>
          <p:cNvSpPr/>
          <p:nvPr/>
        </p:nvSpPr>
        <p:spPr>
          <a:xfrm>
            <a:off x="777240" y="4023360"/>
            <a:ext cx="1371600" cy="365760"/>
          </a:xfrm>
          <a:prstGeom prst="roundRect">
            <a:avLst>
              <a:gd name="adj" fmla="val 50000"/>
            </a:avLst>
          </a:prstGeom>
          <a:solidFill>
            <a:srgbClr val="6FC3A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777240" y="4023360"/>
            <a:ext cx="1371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0B2E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Complete</a:t>
            </a:r>
            <a:endParaRPr lang="en-US" sz="1050" dirty="0"/>
          </a:p>
        </p:txBody>
      </p:sp>
      <p:sp>
        <p:nvSpPr>
          <p:cNvPr id="17" name="Text 15"/>
          <p:cNvSpPr/>
          <p:nvPr/>
        </p:nvSpPr>
        <p:spPr>
          <a:xfrm>
            <a:off x="777240" y="4480560"/>
            <a:ext cx="5029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0B2E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Gantt Chart &amp; Workload Tracker</a:t>
            </a:r>
            <a:endParaRPr lang="en-US" sz="1550" dirty="0"/>
          </a:p>
        </p:txBody>
      </p:sp>
      <p:sp>
        <p:nvSpPr>
          <p:cNvPr id="18" name="Text 16"/>
          <p:cNvSpPr/>
          <p:nvPr/>
        </p:nvSpPr>
        <p:spPr>
          <a:xfrm>
            <a:off x="777240" y="4937760"/>
            <a:ext cx="50292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700"/>
              </a:lnSpc>
              <a:buNone/>
            </a:pPr>
            <a:r>
              <a:rPr lang="en-US" sz="120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Task breakdown with owners and weekly hour allocations tracked in the WBS/Gantt document.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6172200" y="3794760"/>
            <a:ext cx="5486400" cy="2194560"/>
          </a:xfrm>
          <a:prstGeom prst="roundRect">
            <a:avLst>
              <a:gd name="adj" fmla="val 4167"/>
            </a:avLst>
          </a:prstGeom>
          <a:solidFill>
            <a:srgbClr val="F5F8F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0" name="Shape 18"/>
          <p:cNvSpPr/>
          <p:nvPr/>
        </p:nvSpPr>
        <p:spPr>
          <a:xfrm>
            <a:off x="6400800" y="4023360"/>
            <a:ext cx="1371600" cy="365760"/>
          </a:xfrm>
          <a:prstGeom prst="roundRect">
            <a:avLst>
              <a:gd name="adj" fmla="val 50000"/>
            </a:avLst>
          </a:prstGeom>
          <a:solidFill>
            <a:srgbClr val="E8A33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6400800" y="4023360"/>
            <a:ext cx="1371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0B2E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Progress</a:t>
            </a:r>
            <a:endParaRPr lang="en-US" sz="1050" dirty="0"/>
          </a:p>
        </p:txBody>
      </p:sp>
      <p:sp>
        <p:nvSpPr>
          <p:cNvPr id="22" name="Text 20"/>
          <p:cNvSpPr/>
          <p:nvPr/>
        </p:nvSpPr>
        <p:spPr>
          <a:xfrm>
            <a:off x="6400800" y="4480560"/>
            <a:ext cx="5029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0B2E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Preliminary Data Exploration</a:t>
            </a:r>
            <a:endParaRPr lang="en-US" sz="1550" dirty="0"/>
          </a:p>
        </p:txBody>
      </p:sp>
      <p:sp>
        <p:nvSpPr>
          <p:cNvPr id="23" name="Text 21"/>
          <p:cNvSpPr/>
          <p:nvPr/>
        </p:nvSpPr>
        <p:spPr>
          <a:xfrm>
            <a:off x="6400800" y="4937760"/>
            <a:ext cx="50292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700"/>
              </a:lnSpc>
              <a:buNone/>
            </a:pPr>
            <a:r>
              <a:rPr lang="en-US" sz="120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Kaggle Telco Churn dataset identified; acquisition and initial cleaning underway.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457200" y="651052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Telco Customer Churn Prediction  |  Milestone 1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11521440" y="651052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B2E4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502920"/>
            <a:ext cx="9144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Next Steps Toward Milestone 2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48640" y="105156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6FC3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Due October 20, 2026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548640" y="1874520"/>
            <a:ext cx="502920" cy="502920"/>
          </a:xfrm>
          <a:prstGeom prst="ellipse">
            <a:avLst/>
          </a:prstGeom>
          <a:solidFill>
            <a:srgbClr val="1C729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548640" y="187452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1234440" y="1892808"/>
            <a:ext cx="7772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Finish Dataset Acquisition &amp; Cleaning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9418320" y="1965960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Salman Baig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548640" y="2560320"/>
            <a:ext cx="11247120" cy="0"/>
          </a:xfrm>
          <a:prstGeom prst="line">
            <a:avLst/>
          </a:prstGeom>
          <a:noFill/>
          <a:ln w="9525">
            <a:solidFill>
              <a:srgbClr val="1C7293">
                <a:alpha val="4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Shape 7"/>
          <p:cNvSpPr/>
          <p:nvPr/>
        </p:nvSpPr>
        <p:spPr>
          <a:xfrm>
            <a:off x="548640" y="2743200"/>
            <a:ext cx="502920" cy="502920"/>
          </a:xfrm>
          <a:prstGeom prst="ellipse">
            <a:avLst/>
          </a:prstGeom>
          <a:solidFill>
            <a:srgbClr val="1C729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548640" y="274320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1234440" y="2761488"/>
            <a:ext cx="7772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Exploratory Data Analysis (EDA)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9418320" y="2834640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Alex Clark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548640" y="3429000"/>
            <a:ext cx="11247120" cy="0"/>
          </a:xfrm>
          <a:prstGeom prst="line">
            <a:avLst/>
          </a:prstGeom>
          <a:noFill/>
          <a:ln w="9525">
            <a:solidFill>
              <a:srgbClr val="1C7293">
                <a:alpha val="4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Shape 12"/>
          <p:cNvSpPr/>
          <p:nvPr/>
        </p:nvSpPr>
        <p:spPr>
          <a:xfrm>
            <a:off x="548640" y="3611880"/>
            <a:ext cx="502920" cy="502920"/>
          </a:xfrm>
          <a:prstGeom prst="ellipse">
            <a:avLst/>
          </a:prstGeom>
          <a:solidFill>
            <a:srgbClr val="1C729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548640" y="361188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1234440" y="3630168"/>
            <a:ext cx="7772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Preprocessing Pipeline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9418320" y="3703320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Salman Baig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548640" y="4297680"/>
            <a:ext cx="11247120" cy="0"/>
          </a:xfrm>
          <a:prstGeom prst="line">
            <a:avLst/>
          </a:prstGeom>
          <a:noFill/>
          <a:ln w="9525">
            <a:solidFill>
              <a:srgbClr val="1C7293">
                <a:alpha val="4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Shape 17"/>
          <p:cNvSpPr/>
          <p:nvPr/>
        </p:nvSpPr>
        <p:spPr>
          <a:xfrm>
            <a:off x="548640" y="4480560"/>
            <a:ext cx="502920" cy="502920"/>
          </a:xfrm>
          <a:prstGeom prst="ellipse">
            <a:avLst/>
          </a:prstGeom>
          <a:solidFill>
            <a:srgbClr val="1C729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/>
          <p:nvPr/>
        </p:nvSpPr>
        <p:spPr>
          <a:xfrm>
            <a:off x="548640" y="448056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1234440" y="4498848"/>
            <a:ext cx="7772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 Engineering &amp; Selection</a:t>
            </a:r>
            <a:endParaRPr lang="en-US" sz="1500" dirty="0"/>
          </a:p>
        </p:txBody>
      </p:sp>
      <p:sp>
        <p:nvSpPr>
          <p:cNvPr id="22" name="Text 20"/>
          <p:cNvSpPr/>
          <p:nvPr/>
        </p:nvSpPr>
        <p:spPr>
          <a:xfrm>
            <a:off x="9418320" y="4572000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Marshall Marlow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548640" y="5166360"/>
            <a:ext cx="11247120" cy="0"/>
          </a:xfrm>
          <a:prstGeom prst="line">
            <a:avLst/>
          </a:prstGeom>
          <a:noFill/>
          <a:ln w="9525">
            <a:solidFill>
              <a:srgbClr val="1C7293">
                <a:alpha val="4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Shape 22"/>
          <p:cNvSpPr/>
          <p:nvPr/>
        </p:nvSpPr>
        <p:spPr>
          <a:xfrm>
            <a:off x="548640" y="5349240"/>
            <a:ext cx="502920" cy="502920"/>
          </a:xfrm>
          <a:prstGeom prst="ellipse">
            <a:avLst/>
          </a:prstGeom>
          <a:solidFill>
            <a:srgbClr val="1C729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5" name="Text 23"/>
          <p:cNvSpPr/>
          <p:nvPr/>
        </p:nvSpPr>
        <p:spPr>
          <a:xfrm>
            <a:off x="548640" y="534924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1600" dirty="0"/>
          </a:p>
        </p:txBody>
      </p:sp>
      <p:sp>
        <p:nvSpPr>
          <p:cNvPr id="26" name="Text 24"/>
          <p:cNvSpPr/>
          <p:nvPr/>
        </p:nvSpPr>
        <p:spPr>
          <a:xfrm>
            <a:off x="1234440" y="5367528"/>
            <a:ext cx="7772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Implement Baseline Model</a:t>
            </a:r>
            <a:endParaRPr lang="en-US" sz="1500" dirty="0"/>
          </a:p>
        </p:txBody>
      </p:sp>
      <p:sp>
        <p:nvSpPr>
          <p:cNvPr id="27" name="Text 25"/>
          <p:cNvSpPr/>
          <p:nvPr/>
        </p:nvSpPr>
        <p:spPr>
          <a:xfrm>
            <a:off x="9418320" y="5440680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Doris Onyeanula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457200" y="651052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Telco Customer Churn Prediction  |  Milestone 1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11521440" y="651052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499</Words>
  <Application>Microsoft Macintosh PowerPoint</Application>
  <PresentationFormat>Widescreen</PresentationFormat>
  <Paragraphs>117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1" baseType="lpstr">
      <vt:lpstr>Arial</vt:lpstr>
      <vt:lpstr>Calibri</vt:lpstr>
      <vt:lpstr>Cambria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Baig, Mirza</cp:lastModifiedBy>
  <cp:revision>1</cp:revision>
  <dcterms:created xsi:type="dcterms:W3CDTF">2026-09-25T01:45:36Z</dcterms:created>
  <dcterms:modified xsi:type="dcterms:W3CDTF">2026-09-25T19:20:19Z</dcterms:modified>
</cp:coreProperties>
</file>