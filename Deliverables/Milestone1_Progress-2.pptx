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E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914400"/>
            <a:ext cx="2926080" cy="2926080"/>
          </a:xfrm>
          <a:prstGeom prst="ellipse">
            <a:avLst/>
          </a:prstGeom>
          <a:solidFill>
            <a:srgbClr val="1C7293">
              <a:alpha val="2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8595360" y="4023360"/>
            <a:ext cx="4023360" cy="4023360"/>
          </a:xfrm>
          <a:prstGeom prst="ellipse">
            <a:avLst/>
          </a:prstGeom>
          <a:solidFill>
            <a:srgbClr val="6FC3A0">
              <a:alpha val="1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96596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spc="200" kern="0" dirty="0">
                <a:solidFill>
                  <a:srgbClr val="6FC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IT4793 CAPSTONE  ·  MILESTONE 1 PROGRESS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31520" y="2377440"/>
            <a:ext cx="10515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Telco Customer Churn Prediction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731520" y="352044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Predicting at-risk customers with machine learning to protect recurring revenue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31520" y="594360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Joshua Chuhran   ·   Doris Onyeanula   ·   Alex Clark   ·   Salman Baig   ·   Marshall Marlow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31520" y="626364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Kennesaw State University · College of Computing and Software Engineering · Fall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E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Overview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051560"/>
            <a:ext cx="6035040" cy="18288"/>
          </a:xfrm>
          <a:prstGeom prst="rect">
            <a:avLst/>
          </a:prstGeom>
          <a:solidFill>
            <a:srgbClr val="F5F8FA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71600"/>
            <a:ext cx="6126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churn — when a subscriber cancels service — directly erodes recurring telecom revenue. This project builds a predictive analytics pipeline that flags at-risk customers early, so retention teams can intervene before they leave.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48640" y="3017520"/>
            <a:ext cx="6126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source: Kaggle Telco Customer Churn dataset (IBM), covering customer demographics, account tenure, and subscribed services.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040880" y="1371600"/>
            <a:ext cx="1417320" cy="1417320"/>
          </a:xfrm>
          <a:prstGeom prst="roundRect">
            <a:avLst>
              <a:gd name="adj" fmla="val 7742"/>
            </a:avLst>
          </a:prstGeom>
          <a:solidFill>
            <a:srgbClr val="F5F8FA"/>
          </a:solidFill>
          <a:ln/>
        </p:spPr>
      </p:sp>
      <p:sp>
        <p:nvSpPr>
          <p:cNvPr id="7" name="Text 5"/>
          <p:cNvSpPr/>
          <p:nvPr/>
        </p:nvSpPr>
        <p:spPr>
          <a:xfrm>
            <a:off x="7040880" y="1481328"/>
            <a:ext cx="1417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7,000+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7132320" y="2148840"/>
            <a:ext cx="1234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records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8641080" y="1371600"/>
            <a:ext cx="1417320" cy="1417320"/>
          </a:xfrm>
          <a:prstGeom prst="roundRect">
            <a:avLst>
              <a:gd name="adj" fmla="val 7742"/>
            </a:avLst>
          </a:prstGeom>
          <a:solidFill>
            <a:srgbClr val="F5F8FA"/>
          </a:solidFill>
          <a:ln/>
        </p:spPr>
      </p:sp>
      <p:sp>
        <p:nvSpPr>
          <p:cNvPr id="10" name="Text 8"/>
          <p:cNvSpPr/>
          <p:nvPr/>
        </p:nvSpPr>
        <p:spPr>
          <a:xfrm>
            <a:off x="8641080" y="1481328"/>
            <a:ext cx="1417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6FC3A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8732520" y="2148840"/>
            <a:ext cx="1234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models planned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10241280" y="1371600"/>
            <a:ext cx="1417320" cy="1417320"/>
          </a:xfrm>
          <a:prstGeom prst="roundRect">
            <a:avLst>
              <a:gd name="adj" fmla="val 7742"/>
            </a:avLst>
          </a:prstGeom>
          <a:solidFill>
            <a:srgbClr val="F5F8FA"/>
          </a:solidFill>
          <a:ln/>
        </p:spPr>
      </p:sp>
      <p:sp>
        <p:nvSpPr>
          <p:cNvPr id="13" name="Text 11"/>
          <p:cNvSpPr/>
          <p:nvPr/>
        </p:nvSpPr>
        <p:spPr>
          <a:xfrm>
            <a:off x="10241280" y="1481328"/>
            <a:ext cx="1417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10332720" y="2148840"/>
            <a:ext cx="1234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 metrics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7040880" y="3063240"/>
            <a:ext cx="4526280" cy="2743200"/>
          </a:xfrm>
          <a:prstGeom prst="roundRect">
            <a:avLst>
              <a:gd name="adj" fmla="val 3333"/>
            </a:avLst>
          </a:prstGeom>
          <a:solidFill>
            <a:srgbClr val="0B2E4A"/>
          </a:solidFill>
          <a:ln/>
        </p:spPr>
      </p:sp>
      <p:sp>
        <p:nvSpPr>
          <p:cNvPr id="16" name="Text 14"/>
          <p:cNvSpPr/>
          <p:nvPr/>
        </p:nvSpPr>
        <p:spPr>
          <a:xfrm>
            <a:off x="7315200" y="324612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FC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Analytical Approach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7315200" y="3703320"/>
            <a:ext cx="40233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2200"/>
              </a:lnSpc>
              <a:buSzPct val="100000"/>
              <a:buChar char="▪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Regression, Random Forest, XGBoost</a:t>
            </a:r>
            <a:endParaRPr lang="en-US" sz="1250" dirty="0"/>
          </a:p>
          <a:p>
            <a:pPr marL="342900" indent="-342900">
              <a:lnSpc>
                <a:spcPts val="2200"/>
              </a:lnSpc>
              <a:buSzPct val="100000"/>
              <a:buChar char="▪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Evaluated on F1-Score &amp; PR-AUC</a:t>
            </a:r>
            <a:endParaRPr lang="en-US" sz="1250" dirty="0"/>
          </a:p>
          <a:p>
            <a:pPr marL="342900" indent="-342900">
              <a:lnSpc>
                <a:spcPts val="2200"/>
              </a:lnSpc>
              <a:buSzPct val="100000"/>
              <a:buChar char="▪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Python: Pandas, NumPy, Scikit-Learn</a:t>
            </a:r>
            <a:endParaRPr lang="en-US" sz="1250" dirty="0"/>
          </a:p>
          <a:p>
            <a:pPr marL="342900" indent="-342900">
              <a:lnSpc>
                <a:spcPts val="2200"/>
              </a:lnSpc>
              <a:buSzPct val="100000"/>
              <a:buChar char="▪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Jupyter Notebooks + GitHub version control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Telco Customer Churn Prediction  |  Milestone 1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E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Team &amp; Roles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051560"/>
            <a:ext cx="11064240" cy="18288"/>
          </a:xfrm>
          <a:prstGeom prst="rect">
            <a:avLst/>
          </a:prstGeom>
          <a:solidFill>
            <a:srgbClr val="F5F8FA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417320"/>
            <a:ext cx="2139696" cy="3566160"/>
          </a:xfrm>
          <a:prstGeom prst="roundRect">
            <a:avLst>
              <a:gd name="adj" fmla="val 4274"/>
            </a:avLst>
          </a:prstGeom>
          <a:solidFill>
            <a:srgbClr val="F5F8FA"/>
          </a:solidFill>
          <a:ln/>
        </p:spPr>
      </p:sp>
      <p:sp>
        <p:nvSpPr>
          <p:cNvPr id="5" name="Shape 3"/>
          <p:cNvSpPr/>
          <p:nvPr/>
        </p:nvSpPr>
        <p:spPr>
          <a:xfrm>
            <a:off x="1207008" y="1783080"/>
            <a:ext cx="822960" cy="82296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6" name="Text 4"/>
          <p:cNvSpPr/>
          <p:nvPr/>
        </p:nvSpPr>
        <p:spPr>
          <a:xfrm>
            <a:off x="1207008" y="178308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JC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85800" y="2788920"/>
            <a:ext cx="18653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2E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Joshua Chuhran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31520" y="3337560"/>
            <a:ext cx="1773936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Leader &amp; Project Management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2825496" y="1417320"/>
            <a:ext cx="2139696" cy="3566160"/>
          </a:xfrm>
          <a:prstGeom prst="roundRect">
            <a:avLst>
              <a:gd name="adj" fmla="val 4274"/>
            </a:avLst>
          </a:prstGeom>
          <a:solidFill>
            <a:srgbClr val="F5F8FA"/>
          </a:solidFill>
          <a:ln/>
        </p:spPr>
      </p:sp>
      <p:sp>
        <p:nvSpPr>
          <p:cNvPr id="10" name="Shape 8"/>
          <p:cNvSpPr/>
          <p:nvPr/>
        </p:nvSpPr>
        <p:spPr>
          <a:xfrm>
            <a:off x="3483864" y="1783080"/>
            <a:ext cx="822960" cy="822960"/>
          </a:xfrm>
          <a:prstGeom prst="ellipse">
            <a:avLst/>
          </a:prstGeom>
          <a:solidFill>
            <a:srgbClr val="6FC3A0"/>
          </a:solidFill>
          <a:ln/>
        </p:spPr>
      </p:sp>
      <p:sp>
        <p:nvSpPr>
          <p:cNvPr id="11" name="Text 9"/>
          <p:cNvSpPr/>
          <p:nvPr/>
        </p:nvSpPr>
        <p:spPr>
          <a:xfrm>
            <a:off x="3483864" y="178308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2962656" y="2788920"/>
            <a:ext cx="18653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2E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Doris Onyeanula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008376" y="3337560"/>
            <a:ext cx="1773936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Acquisition &amp; Results Visualization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102352" y="1417320"/>
            <a:ext cx="2139696" cy="3566160"/>
          </a:xfrm>
          <a:prstGeom prst="roundRect">
            <a:avLst>
              <a:gd name="adj" fmla="val 4274"/>
            </a:avLst>
          </a:prstGeom>
          <a:solidFill>
            <a:srgbClr val="F5F8FA"/>
          </a:solidFill>
          <a:ln/>
        </p:spPr>
      </p:sp>
      <p:sp>
        <p:nvSpPr>
          <p:cNvPr id="15" name="Shape 13"/>
          <p:cNvSpPr/>
          <p:nvPr/>
        </p:nvSpPr>
        <p:spPr>
          <a:xfrm>
            <a:off x="5760720" y="1783080"/>
            <a:ext cx="822960" cy="82296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6" name="Text 14"/>
          <p:cNvSpPr/>
          <p:nvPr/>
        </p:nvSpPr>
        <p:spPr>
          <a:xfrm>
            <a:off x="5760720" y="178308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5239512" y="2788920"/>
            <a:ext cx="18653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2E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Alex Clark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285232" y="3337560"/>
            <a:ext cx="1773936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Data Analysis &amp; Documentation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7379208" y="1417320"/>
            <a:ext cx="2139696" cy="3566160"/>
          </a:xfrm>
          <a:prstGeom prst="roundRect">
            <a:avLst>
              <a:gd name="adj" fmla="val 4274"/>
            </a:avLst>
          </a:prstGeom>
          <a:solidFill>
            <a:srgbClr val="F5F8FA"/>
          </a:solidFill>
          <a:ln/>
        </p:spPr>
      </p:sp>
      <p:sp>
        <p:nvSpPr>
          <p:cNvPr id="20" name="Shape 18"/>
          <p:cNvSpPr/>
          <p:nvPr/>
        </p:nvSpPr>
        <p:spPr>
          <a:xfrm>
            <a:off x="8037576" y="1783080"/>
            <a:ext cx="822960" cy="82296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1" name="Text 19"/>
          <p:cNvSpPr/>
          <p:nvPr/>
        </p:nvSpPr>
        <p:spPr>
          <a:xfrm>
            <a:off x="8037576" y="178308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SB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7516368" y="2788920"/>
            <a:ext cx="18653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2E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Salman Baig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7562088" y="3337560"/>
            <a:ext cx="1773936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 &amp; ML Model Tuning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9656064" y="1417320"/>
            <a:ext cx="2139696" cy="3566160"/>
          </a:xfrm>
          <a:prstGeom prst="roundRect">
            <a:avLst>
              <a:gd name="adj" fmla="val 4274"/>
            </a:avLst>
          </a:prstGeom>
          <a:solidFill>
            <a:srgbClr val="F5F8FA"/>
          </a:solidFill>
          <a:ln/>
        </p:spPr>
      </p:sp>
      <p:sp>
        <p:nvSpPr>
          <p:cNvPr id="25" name="Shape 23"/>
          <p:cNvSpPr/>
          <p:nvPr/>
        </p:nvSpPr>
        <p:spPr>
          <a:xfrm>
            <a:off x="10314432" y="1783080"/>
            <a:ext cx="822960" cy="822960"/>
          </a:xfrm>
          <a:prstGeom prst="ellipse">
            <a:avLst/>
          </a:prstGeom>
          <a:solidFill>
            <a:srgbClr val="6FC3A0"/>
          </a:solidFill>
          <a:ln/>
        </p:spPr>
      </p:sp>
      <p:sp>
        <p:nvSpPr>
          <p:cNvPr id="26" name="Text 24"/>
          <p:cNvSpPr/>
          <p:nvPr/>
        </p:nvSpPr>
        <p:spPr>
          <a:xfrm>
            <a:off x="10314432" y="178308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MM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9793224" y="2788920"/>
            <a:ext cx="18653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2E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Marshall Marlow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9838944" y="3337560"/>
            <a:ext cx="1773936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 &amp; Model Evaluation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548640" y="52578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Advisor: Arindam Khanda  ·  Weekly syncs via Microsoft Teams  ·  24-hour response expectation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Telco Customer Churn Prediction  |  Milestone 1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E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Milestone Roadmap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051560"/>
            <a:ext cx="11064240" cy="18288"/>
          </a:xfrm>
          <a:prstGeom prst="rect">
            <a:avLst/>
          </a:prstGeom>
          <a:solidFill>
            <a:srgbClr val="F5F8FA"/>
          </a:solidFill>
          <a:ln/>
        </p:spPr>
      </p:sp>
      <p:sp>
        <p:nvSpPr>
          <p:cNvPr id="4" name="Shape 2"/>
          <p:cNvSpPr/>
          <p:nvPr/>
        </p:nvSpPr>
        <p:spPr>
          <a:xfrm>
            <a:off x="1691640" y="2743200"/>
            <a:ext cx="8778240" cy="0"/>
          </a:xfrm>
          <a:prstGeom prst="line">
            <a:avLst/>
          </a:prstGeom>
          <a:noFill/>
          <a:ln w="25400">
            <a:solidFill>
              <a:srgbClr val="9AA5B1"/>
            </a:solidFill>
            <a:prstDash val="dash"/>
          </a:ln>
        </p:spPr>
      </p:sp>
      <p:sp>
        <p:nvSpPr>
          <p:cNvPr id="5" name="Shape 3"/>
          <p:cNvSpPr/>
          <p:nvPr/>
        </p:nvSpPr>
        <p:spPr>
          <a:xfrm>
            <a:off x="1563624" y="2615184"/>
            <a:ext cx="256032" cy="256032"/>
          </a:xfrm>
          <a:prstGeom prst="ellipse">
            <a:avLst/>
          </a:prstGeom>
          <a:solidFill>
            <a:srgbClr val="0B2E4A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82880" y="3063240"/>
            <a:ext cx="3017520" cy="2331720"/>
          </a:xfrm>
          <a:prstGeom prst="roundRect">
            <a:avLst>
              <a:gd name="adj" fmla="val 3922"/>
            </a:avLst>
          </a:prstGeom>
          <a:solidFill>
            <a:srgbClr val="0B2E4A"/>
          </a:solidFill>
          <a:ln/>
        </p:spPr>
      </p:sp>
      <p:sp>
        <p:nvSpPr>
          <p:cNvPr id="7" name="Text 5"/>
          <p:cNvSpPr/>
          <p:nvPr/>
        </p:nvSpPr>
        <p:spPr>
          <a:xfrm>
            <a:off x="411480" y="324612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Milestone #1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11480" y="361188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6FC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 25, 2026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411480" y="4023360"/>
            <a:ext cx="25603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Plan · Repo Setup · Preliminary Exploration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11480" y="5074920"/>
            <a:ext cx="1645920" cy="274320"/>
          </a:xfrm>
          <a:prstGeom prst="roundRect">
            <a:avLst>
              <a:gd name="adj" fmla="val 50000"/>
            </a:avLst>
          </a:prstGeom>
          <a:solidFill>
            <a:srgbClr val="E8A33D"/>
          </a:solidFill>
          <a:ln/>
        </p:spPr>
      </p:sp>
      <p:sp>
        <p:nvSpPr>
          <p:cNvPr id="11" name="Text 9"/>
          <p:cNvSpPr/>
          <p:nvPr/>
        </p:nvSpPr>
        <p:spPr>
          <a:xfrm>
            <a:off x="411480" y="507492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B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ARE HERE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5952744" y="2615184"/>
            <a:ext cx="256032" cy="256032"/>
          </a:xfrm>
          <a:prstGeom prst="ellipse">
            <a:avLst/>
          </a:prstGeom>
          <a:solidFill>
            <a:srgbClr val="5C6B7A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0" y="3063240"/>
            <a:ext cx="3017520" cy="2331720"/>
          </a:xfrm>
          <a:prstGeom prst="roundRect">
            <a:avLst>
              <a:gd name="adj" fmla="val 3922"/>
            </a:avLst>
          </a:prstGeom>
          <a:solidFill>
            <a:srgbClr val="F5F8FA"/>
          </a:solidFill>
          <a:ln/>
        </p:spPr>
      </p:sp>
      <p:sp>
        <p:nvSpPr>
          <p:cNvPr id="14" name="Text 12"/>
          <p:cNvSpPr/>
          <p:nvPr/>
        </p:nvSpPr>
        <p:spPr>
          <a:xfrm>
            <a:off x="4800600" y="324612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E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Milestone #2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800600" y="361188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Oct 20, 2026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4800600" y="4023360"/>
            <a:ext cx="25603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 · Baseline Model · Diagnostics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10341864" y="2615184"/>
            <a:ext cx="256032" cy="256032"/>
          </a:xfrm>
          <a:prstGeom prst="ellipse">
            <a:avLst/>
          </a:prstGeom>
          <a:solidFill>
            <a:srgbClr val="5C6B7A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961120" y="3063240"/>
            <a:ext cx="3017520" cy="2331720"/>
          </a:xfrm>
          <a:prstGeom prst="roundRect">
            <a:avLst>
              <a:gd name="adj" fmla="val 3922"/>
            </a:avLst>
          </a:prstGeom>
          <a:solidFill>
            <a:srgbClr val="F5F8FA"/>
          </a:solidFill>
          <a:ln/>
        </p:spPr>
      </p:sp>
      <p:sp>
        <p:nvSpPr>
          <p:cNvPr id="19" name="Text 17"/>
          <p:cNvSpPr/>
          <p:nvPr/>
        </p:nvSpPr>
        <p:spPr>
          <a:xfrm>
            <a:off x="9189720" y="324612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E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Milestone #3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9189720" y="361188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 10, 2026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9189720" y="4023360"/>
            <a:ext cx="25603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Tuning · Evaluation (F1 / PR-AUC) · Draft Docs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Telco Customer Churn Prediction  |  Milestone 1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E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Progress by Work Area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the project workload tracker &amp; Gantt chart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1508760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Planning &amp; Governance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7498080" y="150876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6FC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548640" y="1874520"/>
            <a:ext cx="7863840" cy="201168"/>
          </a:xfrm>
          <a:prstGeom prst="roundRect">
            <a:avLst>
              <a:gd name="adj" fmla="val 50000"/>
            </a:avLst>
          </a:prstGeom>
          <a:solidFill>
            <a:srgbClr val="F5F8FA"/>
          </a:solidFill>
          <a:ln/>
        </p:spPr>
      </p:sp>
      <p:sp>
        <p:nvSpPr>
          <p:cNvPr id="7" name="Shape 5"/>
          <p:cNvSpPr/>
          <p:nvPr/>
        </p:nvSpPr>
        <p:spPr>
          <a:xfrm>
            <a:off x="548640" y="1874520"/>
            <a:ext cx="7863840" cy="201168"/>
          </a:xfrm>
          <a:prstGeom prst="roundRect">
            <a:avLst>
              <a:gd name="adj" fmla="val 50000"/>
            </a:avLst>
          </a:prstGeom>
          <a:solidFill>
            <a:srgbClr val="6FC3A0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2468880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Engineering &amp; EDA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7498080" y="246888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17%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48640" y="2834640"/>
            <a:ext cx="7863840" cy="201168"/>
          </a:xfrm>
          <a:prstGeom prst="roundRect">
            <a:avLst>
              <a:gd name="adj" fmla="val 50000"/>
            </a:avLst>
          </a:prstGeom>
          <a:solidFill>
            <a:srgbClr val="F5F8FA"/>
          </a:solidFill>
          <a:ln/>
        </p:spPr>
      </p:sp>
      <p:sp>
        <p:nvSpPr>
          <p:cNvPr id="11" name="Shape 9"/>
          <p:cNvSpPr/>
          <p:nvPr/>
        </p:nvSpPr>
        <p:spPr>
          <a:xfrm>
            <a:off x="548640" y="2834640"/>
            <a:ext cx="1336853" cy="201168"/>
          </a:xfrm>
          <a:prstGeom prst="roundRect">
            <a:avLst>
              <a:gd name="adj" fmla="val 50000"/>
            </a:avLst>
          </a:prstGeom>
          <a:solidFill>
            <a:srgbClr val="E8A33D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3429000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Modeling &amp; Evaluation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7498080" y="342900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0%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548640" y="3794760"/>
            <a:ext cx="7863840" cy="201168"/>
          </a:xfrm>
          <a:prstGeom prst="roundRect">
            <a:avLst>
              <a:gd name="adj" fmla="val 50000"/>
            </a:avLst>
          </a:prstGeom>
          <a:solidFill>
            <a:srgbClr val="F5F8FA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4389120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Analysis &amp; Final Documentation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7498080" y="438912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0%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548640" y="4754880"/>
            <a:ext cx="7863840" cy="201168"/>
          </a:xfrm>
          <a:prstGeom prst="roundRect">
            <a:avLst>
              <a:gd name="adj" fmla="val 50000"/>
            </a:avLst>
          </a:prstGeom>
          <a:solidFill>
            <a:srgbClr val="F5F8FA"/>
          </a:solidFill>
          <a:ln/>
        </p:spPr>
      </p:sp>
      <p:sp>
        <p:nvSpPr>
          <p:cNvPr id="18" name="Shape 16"/>
          <p:cNvSpPr/>
          <p:nvPr/>
        </p:nvSpPr>
        <p:spPr>
          <a:xfrm>
            <a:off x="8778240" y="1508760"/>
            <a:ext cx="2834640" cy="3931920"/>
          </a:xfrm>
          <a:prstGeom prst="roundRect">
            <a:avLst>
              <a:gd name="adj" fmla="val 3226"/>
            </a:avLst>
          </a:prstGeom>
          <a:solidFill>
            <a:srgbClr val="0B2E4A"/>
          </a:solidFill>
          <a:ln/>
        </p:spPr>
      </p:sp>
      <p:sp>
        <p:nvSpPr>
          <p:cNvPr id="19" name="Text 17"/>
          <p:cNvSpPr/>
          <p:nvPr/>
        </p:nvSpPr>
        <p:spPr>
          <a:xfrm>
            <a:off x="9006840" y="169164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FC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Milestone 1 Snapshot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9006840" y="2240280"/>
            <a:ext cx="128016" cy="128016"/>
          </a:xfrm>
          <a:prstGeom prst="ellipse">
            <a:avLst/>
          </a:prstGeom>
          <a:solidFill>
            <a:srgbClr val="6FC3A0"/>
          </a:solidFill>
          <a:ln/>
        </p:spPr>
      </p:sp>
      <p:sp>
        <p:nvSpPr>
          <p:cNvPr id="21" name="Text 19"/>
          <p:cNvSpPr/>
          <p:nvPr/>
        </p:nvSpPr>
        <p:spPr>
          <a:xfrm>
            <a:off x="9235440" y="219456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Plan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9235440" y="2441448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FC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9006840" y="2862072"/>
            <a:ext cx="128016" cy="128016"/>
          </a:xfrm>
          <a:prstGeom prst="ellipse">
            <a:avLst/>
          </a:prstGeom>
          <a:solidFill>
            <a:srgbClr val="6FC3A0"/>
          </a:solidFill>
          <a:ln/>
        </p:spPr>
      </p:sp>
      <p:sp>
        <p:nvSpPr>
          <p:cNvPr id="24" name="Text 22"/>
          <p:cNvSpPr/>
          <p:nvPr/>
        </p:nvSpPr>
        <p:spPr>
          <a:xfrm>
            <a:off x="9235440" y="2816352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 Setup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9235440" y="306324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FC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9006840" y="3483864"/>
            <a:ext cx="128016" cy="128016"/>
          </a:xfrm>
          <a:prstGeom prst="ellipse">
            <a:avLst/>
          </a:prstGeom>
          <a:solidFill>
            <a:srgbClr val="6FC3A0"/>
          </a:solidFill>
          <a:ln/>
        </p:spPr>
      </p:sp>
      <p:sp>
        <p:nvSpPr>
          <p:cNvPr id="27" name="Text 25"/>
          <p:cNvSpPr/>
          <p:nvPr/>
        </p:nvSpPr>
        <p:spPr>
          <a:xfrm>
            <a:off x="9235440" y="3438144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Gantt Chart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9235440" y="3685032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FC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9006840" y="4105656"/>
            <a:ext cx="128016" cy="128016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30" name="Text 28"/>
          <p:cNvSpPr/>
          <p:nvPr/>
        </p:nvSpPr>
        <p:spPr>
          <a:xfrm>
            <a:off x="9235440" y="4059936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Acquisition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9235440" y="4306824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Progress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9006840" y="4727448"/>
            <a:ext cx="128016" cy="128016"/>
          </a:xfrm>
          <a:prstGeom prst="ellipse">
            <a:avLst/>
          </a:prstGeom>
          <a:solidFill>
            <a:srgbClr val="9AA5B1"/>
          </a:solidFill>
          <a:ln/>
        </p:spPr>
      </p:sp>
      <p:sp>
        <p:nvSpPr>
          <p:cNvPr id="33" name="Text 31"/>
          <p:cNvSpPr/>
          <p:nvPr/>
        </p:nvSpPr>
        <p:spPr>
          <a:xfrm>
            <a:off x="9235440" y="4681728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Exploration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9235440" y="4928616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Started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Telco Customer Churn Prediction  |  Milestone 1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E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Milestone 1 Deliverables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051560"/>
            <a:ext cx="11064240" cy="18288"/>
          </a:xfrm>
          <a:prstGeom prst="rect">
            <a:avLst/>
          </a:prstGeom>
          <a:solidFill>
            <a:srgbClr val="F5F8FA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5486400" cy="2194560"/>
          </a:xfrm>
          <a:prstGeom prst="roundRect">
            <a:avLst>
              <a:gd name="adj" fmla="val 4167"/>
            </a:avLst>
          </a:prstGeom>
          <a:solidFill>
            <a:srgbClr val="F5F8FA"/>
          </a:solidFill>
          <a:ln/>
        </p:spPr>
      </p:sp>
      <p:sp>
        <p:nvSpPr>
          <p:cNvPr id="5" name="Shape 3"/>
          <p:cNvSpPr/>
          <p:nvPr/>
        </p:nvSpPr>
        <p:spPr>
          <a:xfrm>
            <a:off x="777240" y="1600200"/>
            <a:ext cx="1371600" cy="365760"/>
          </a:xfrm>
          <a:prstGeom prst="roundRect">
            <a:avLst>
              <a:gd name="adj" fmla="val 50000"/>
            </a:avLst>
          </a:prstGeom>
          <a:solidFill>
            <a:srgbClr val="6FC3A0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60020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777240" y="205740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B2E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Plan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777240" y="2514600"/>
            <a:ext cx="5029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Scope, team roles, communication plan, and milestone schedule finalized and published to the repo.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172200" y="1371600"/>
            <a:ext cx="5486400" cy="2194560"/>
          </a:xfrm>
          <a:prstGeom prst="roundRect">
            <a:avLst>
              <a:gd name="adj" fmla="val 4167"/>
            </a:avLst>
          </a:prstGeom>
          <a:solidFill>
            <a:srgbClr val="F5F8FA"/>
          </a:solidFill>
          <a:ln/>
        </p:spPr>
      </p:sp>
      <p:sp>
        <p:nvSpPr>
          <p:cNvPr id="10" name="Shape 8"/>
          <p:cNvSpPr/>
          <p:nvPr/>
        </p:nvSpPr>
        <p:spPr>
          <a:xfrm>
            <a:off x="6400800" y="1600200"/>
            <a:ext cx="1371600" cy="365760"/>
          </a:xfrm>
          <a:prstGeom prst="roundRect">
            <a:avLst>
              <a:gd name="adj" fmla="val 50000"/>
            </a:avLst>
          </a:prstGeom>
          <a:solidFill>
            <a:srgbClr val="6FC3A0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0" y="160020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6400800" y="205740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B2E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GitHub Repository Setup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6400800" y="2514600"/>
            <a:ext cx="5029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Repository structured with Data, Deliverables, and Project_Planning folders; version control active.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3794760"/>
            <a:ext cx="5486400" cy="2194560"/>
          </a:xfrm>
          <a:prstGeom prst="roundRect">
            <a:avLst>
              <a:gd name="adj" fmla="val 4167"/>
            </a:avLst>
          </a:prstGeom>
          <a:solidFill>
            <a:srgbClr val="F5F8FA"/>
          </a:solidFill>
          <a:ln/>
        </p:spPr>
      </p:sp>
      <p:sp>
        <p:nvSpPr>
          <p:cNvPr id="15" name="Shape 13"/>
          <p:cNvSpPr/>
          <p:nvPr/>
        </p:nvSpPr>
        <p:spPr>
          <a:xfrm>
            <a:off x="777240" y="4023360"/>
            <a:ext cx="1371600" cy="365760"/>
          </a:xfrm>
          <a:prstGeom prst="roundRect">
            <a:avLst>
              <a:gd name="adj" fmla="val 50000"/>
            </a:avLst>
          </a:prstGeom>
          <a:solidFill>
            <a:srgbClr val="6FC3A0"/>
          </a:solidFill>
          <a:ln/>
        </p:spPr>
      </p:sp>
      <p:sp>
        <p:nvSpPr>
          <p:cNvPr id="16" name="Text 14"/>
          <p:cNvSpPr/>
          <p:nvPr/>
        </p:nvSpPr>
        <p:spPr>
          <a:xfrm>
            <a:off x="777240" y="402336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777240" y="448056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B2E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Gantt Chart &amp; Workload Tracker</a:t>
            </a:r>
            <a:endParaRPr lang="en-US" sz="1550" dirty="0"/>
          </a:p>
        </p:txBody>
      </p:sp>
      <p:sp>
        <p:nvSpPr>
          <p:cNvPr id="18" name="Text 16"/>
          <p:cNvSpPr/>
          <p:nvPr/>
        </p:nvSpPr>
        <p:spPr>
          <a:xfrm>
            <a:off x="777240" y="4937760"/>
            <a:ext cx="5029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breakdown with owners and weekly hour allocations tracked in the WBS/Gantt document.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172200" y="3794760"/>
            <a:ext cx="5486400" cy="2194560"/>
          </a:xfrm>
          <a:prstGeom prst="roundRect">
            <a:avLst>
              <a:gd name="adj" fmla="val 4167"/>
            </a:avLst>
          </a:prstGeom>
          <a:solidFill>
            <a:srgbClr val="F5F8FA"/>
          </a:solidFill>
          <a:ln/>
        </p:spPr>
      </p:sp>
      <p:sp>
        <p:nvSpPr>
          <p:cNvPr id="20" name="Shape 18"/>
          <p:cNvSpPr/>
          <p:nvPr/>
        </p:nvSpPr>
        <p:spPr>
          <a:xfrm>
            <a:off x="6400800" y="4023360"/>
            <a:ext cx="1371600" cy="365760"/>
          </a:xfrm>
          <a:prstGeom prst="roundRect">
            <a:avLst>
              <a:gd name="adj" fmla="val 50000"/>
            </a:avLst>
          </a:prstGeom>
          <a:solidFill>
            <a:srgbClr val="E8A33D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0" y="402336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Progress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6400800" y="448056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B2E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Preliminary Data Exploration</a:t>
            </a:r>
            <a:endParaRPr lang="en-US" sz="1550" dirty="0"/>
          </a:p>
        </p:txBody>
      </p:sp>
      <p:sp>
        <p:nvSpPr>
          <p:cNvPr id="23" name="Text 21"/>
          <p:cNvSpPr/>
          <p:nvPr/>
        </p:nvSpPr>
        <p:spPr>
          <a:xfrm>
            <a:off x="6400800" y="4937760"/>
            <a:ext cx="5029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Kaggle Telco Churn dataset identified; acquisition and initial cleaning underway.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Telco Customer Churn Prediction  |  Milestone 1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601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2E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Updated Gantt Chart &amp; Workload Tracker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Project_Planning/01WBS_Gantt.md  ·  Report date: Sep 21, 2026  ·  Total planned workload: 21 hrs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2072488" y="1234440"/>
            <a:ext cx="8046720" cy="4587705"/>
          </a:xfrm>
          <a:prstGeom prst="roundRect">
            <a:avLst>
              <a:gd name="adj" fmla="val 1595"/>
            </a:avLst>
          </a:prstGeom>
          <a:solidFill>
            <a:srgbClr val="FFFFFF"/>
          </a:solidFill>
          <a:ln w="12700">
            <a:solidFill>
              <a:srgbClr val="DDE3E8"/>
            </a:solidFill>
            <a:prstDash val="solid"/>
          </a:ln>
          <a:effectLst>
            <a:outerShdw sx="100000" sy="100000" kx="0" ky="0" algn="bl" rotWithShape="0" blurRad="127000" dist="38100" dir="5400000">
              <a:srgbClr val="1B2A3A">
                <a:alpha val="18000"/>
              </a:srgbClr>
            </a:outerShdw>
          </a:effectLst>
        </p:spPr>
      </p:sp>
      <p:pic>
        <p:nvPicPr>
          <p:cNvPr id="5" name="Image 0" descr="/home/claude/deck/gantt_screensho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09648" y="1371600"/>
            <a:ext cx="7772400" cy="4313385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5977593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tasks were added since the original plan — Milestone 1 PowerPoint Presentation and Milestone 1 Submission Review — both now marked complete.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Telco Customer Churn Prediction  |  Milestone 1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E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GitHub Repository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project repository, version-controlled and updated weekly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11064240" cy="4663440"/>
          </a:xfrm>
          <a:prstGeom prst="roundRect">
            <a:avLst>
              <a:gd name="adj" fmla="val 1569"/>
            </a:avLst>
          </a:prstGeom>
          <a:solidFill>
            <a:srgbClr val="FFFFFF"/>
          </a:solidFill>
          <a:ln w="12700">
            <a:solidFill>
              <a:srgbClr val="DDE3E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371600"/>
            <a:ext cx="11064240" cy="411480"/>
          </a:xfrm>
          <a:prstGeom prst="roundRect">
            <a:avLst>
              <a:gd name="adj" fmla="val 17778"/>
            </a:avLst>
          </a:prstGeom>
          <a:solidFill>
            <a:srgbClr val="E9EDF1"/>
          </a:solidFill>
          <a:ln/>
        </p:spPr>
      </p:sp>
      <p:sp>
        <p:nvSpPr>
          <p:cNvPr id="6" name="Shape 4"/>
          <p:cNvSpPr/>
          <p:nvPr/>
        </p:nvSpPr>
        <p:spPr>
          <a:xfrm>
            <a:off x="731520" y="1508760"/>
            <a:ext cx="137160" cy="137160"/>
          </a:xfrm>
          <a:prstGeom prst="ellipse">
            <a:avLst/>
          </a:prstGeom>
          <a:solidFill>
            <a:srgbClr val="E8635E"/>
          </a:solidFill>
          <a:ln/>
        </p:spPr>
      </p:sp>
      <p:sp>
        <p:nvSpPr>
          <p:cNvPr id="7" name="Shape 5"/>
          <p:cNvSpPr/>
          <p:nvPr/>
        </p:nvSpPr>
        <p:spPr>
          <a:xfrm>
            <a:off x="960120" y="1508760"/>
            <a:ext cx="137160" cy="137160"/>
          </a:xfrm>
          <a:prstGeom prst="ellipse">
            <a:avLst/>
          </a:prstGeom>
          <a:solidFill>
            <a:srgbClr val="EFC14E"/>
          </a:solidFill>
          <a:ln/>
        </p:spPr>
      </p:sp>
      <p:sp>
        <p:nvSpPr>
          <p:cNvPr id="8" name="Shape 6"/>
          <p:cNvSpPr/>
          <p:nvPr/>
        </p:nvSpPr>
        <p:spPr>
          <a:xfrm>
            <a:off x="1188720" y="1508760"/>
            <a:ext cx="137160" cy="137160"/>
          </a:xfrm>
          <a:prstGeom prst="ellipse">
            <a:avLst/>
          </a:prstGeom>
          <a:solidFill>
            <a:srgbClr val="61C355"/>
          </a:solidFill>
          <a:ln/>
        </p:spPr>
      </p:sp>
      <p:sp>
        <p:nvSpPr>
          <p:cNvPr id="9" name="Shape 7"/>
          <p:cNvSpPr/>
          <p:nvPr/>
        </p:nvSpPr>
        <p:spPr>
          <a:xfrm>
            <a:off x="1554480" y="1444752"/>
            <a:ext cx="9692640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10" name="Text 8"/>
          <p:cNvSpPr/>
          <p:nvPr/>
        </p:nvSpPr>
        <p:spPr>
          <a:xfrm>
            <a:off x="1691640" y="1444752"/>
            <a:ext cx="9418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6B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github.com/JChuhran/telco-customer-churn-prediction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68680" y="2029968"/>
            <a:ext cx="457200" cy="457200"/>
          </a:xfrm>
          <a:prstGeom prst="ellipse">
            <a:avLst/>
          </a:prstGeom>
          <a:solidFill>
            <a:srgbClr val="0B2E4A"/>
          </a:solidFill>
          <a:ln/>
        </p:spPr>
      </p:sp>
      <p:sp>
        <p:nvSpPr>
          <p:cNvPr id="12" name="Text 10"/>
          <p:cNvSpPr/>
          <p:nvPr/>
        </p:nvSpPr>
        <p:spPr>
          <a:xfrm>
            <a:off x="868680" y="20299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KSU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463040" y="1993392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C6B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JChuhran / </a:t>
            </a:r>
            <a:pPr indent="0" marL="0">
              <a:buNone/>
            </a:pPr>
            <a:r>
              <a:rPr lang="en-US" sz="1600" b="1" dirty="0">
                <a:solidFill>
                  <a:srgbClr val="0B2E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telco-customer-churn-prediction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7909560" y="2057400"/>
            <a:ext cx="777240" cy="274320"/>
          </a:xfrm>
          <a:prstGeom prst="roundRect">
            <a:avLst>
              <a:gd name="adj" fmla="val 50000"/>
            </a:avLst>
          </a:prstGeom>
          <a:ln w="12700">
            <a:solidFill>
              <a:srgbClr val="9AA5B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909560" y="2057400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868680" y="23957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 commits   ·   1 branch   ·   IT4793 Capstone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822960" y="2788920"/>
            <a:ext cx="10515600" cy="0"/>
          </a:xfrm>
          <a:prstGeom prst="line">
            <a:avLst/>
          </a:prstGeom>
          <a:noFill/>
          <a:ln w="12700">
            <a:solidFill>
              <a:srgbClr val="E4E8E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68680" y="2999232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1C7293"/>
          </a:solidFill>
          <a:ln/>
        </p:spPr>
      </p:sp>
      <p:sp>
        <p:nvSpPr>
          <p:cNvPr id="19" name="Text 17"/>
          <p:cNvSpPr/>
          <p:nvPr/>
        </p:nvSpPr>
        <p:spPr>
          <a:xfrm>
            <a:off x="1325880" y="29718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2E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Data/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4114800" y="297180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Notebooks, cleaning &amp; EDA scripts (in progress)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566928" y="3447288"/>
            <a:ext cx="11027664" cy="502920"/>
          </a:xfrm>
          <a:prstGeom prst="rect">
            <a:avLst/>
          </a:prstGeom>
          <a:solidFill>
            <a:srgbClr val="F7F9FB"/>
          </a:solidFill>
          <a:ln/>
        </p:spPr>
      </p:sp>
      <p:sp>
        <p:nvSpPr>
          <p:cNvPr id="22" name="Shape 20"/>
          <p:cNvSpPr/>
          <p:nvPr/>
        </p:nvSpPr>
        <p:spPr>
          <a:xfrm>
            <a:off x="868680" y="3529584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6FC3A0"/>
          </a:solidFill>
          <a:ln/>
        </p:spPr>
      </p:sp>
      <p:sp>
        <p:nvSpPr>
          <p:cNvPr id="23" name="Text 21"/>
          <p:cNvSpPr/>
          <p:nvPr/>
        </p:nvSpPr>
        <p:spPr>
          <a:xfrm>
            <a:off x="1325880" y="3502152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2E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Deliverables/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4114800" y="3502152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Milestone reports &amp; final presentation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868680" y="4059936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E8A33D"/>
          </a:solidFill>
          <a:ln/>
        </p:spPr>
      </p:sp>
      <p:sp>
        <p:nvSpPr>
          <p:cNvPr id="26" name="Text 24"/>
          <p:cNvSpPr/>
          <p:nvPr/>
        </p:nvSpPr>
        <p:spPr>
          <a:xfrm>
            <a:off x="1325880" y="4032504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2E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Project_Planning/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4114800" y="4032504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Plan, WBS &amp; Gantt tracker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566928" y="4507992"/>
            <a:ext cx="11027664" cy="502920"/>
          </a:xfrm>
          <a:prstGeom prst="rect">
            <a:avLst/>
          </a:prstGeom>
          <a:solidFill>
            <a:srgbClr val="F7F9FB"/>
          </a:solidFill>
          <a:ln/>
        </p:spPr>
      </p:sp>
      <p:sp>
        <p:nvSpPr>
          <p:cNvPr id="29" name="Shape 27"/>
          <p:cNvSpPr/>
          <p:nvPr/>
        </p:nvSpPr>
        <p:spPr>
          <a:xfrm>
            <a:off x="868680" y="4590288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5C6B7A"/>
          </a:solidFill>
          <a:ln/>
        </p:spPr>
      </p:sp>
      <p:sp>
        <p:nvSpPr>
          <p:cNvPr id="30" name="Text 28"/>
          <p:cNvSpPr/>
          <p:nvPr/>
        </p:nvSpPr>
        <p:spPr>
          <a:xfrm>
            <a:off x="1325880" y="4562856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2E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README.md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4114800" y="4562856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overview, team, tech stack &amp; links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822960" y="5120640"/>
            <a:ext cx="10515600" cy="0"/>
          </a:xfrm>
          <a:prstGeom prst="line">
            <a:avLst/>
          </a:prstGeom>
          <a:noFill/>
          <a:ln w="12700">
            <a:solidFill>
              <a:srgbClr val="E4E8E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68680" y="5257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Latest commit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868680" y="5532120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"Add preliminary WBS &amp; Gantt tracker updates" — Joshua Chuhran, Sep 21, 2026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Telco Customer Churn Prediction  |  Milestone 1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2E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Next Steps Toward Milestone 2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FC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Due October 20, 2026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8745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234440" y="1892808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Finish Dataset Acquisition &amp; Cleaning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9418320" y="196596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Salman Baig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2560320"/>
            <a:ext cx="11247120" cy="0"/>
          </a:xfrm>
          <a:prstGeom prst="line">
            <a:avLst/>
          </a:prstGeom>
          <a:noFill/>
          <a:ln w="9525">
            <a:solidFill>
              <a:srgbClr val="1C7293">
                <a:alpha val="4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" y="274320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2743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234440" y="2761488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Data Analysis (EDA)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9418320" y="283464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Alex Clark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3429000"/>
            <a:ext cx="11247120" cy="0"/>
          </a:xfrm>
          <a:prstGeom prst="line">
            <a:avLst/>
          </a:prstGeom>
          <a:noFill/>
          <a:ln w="9525">
            <a:solidFill>
              <a:srgbClr val="1C7293">
                <a:alpha val="4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" y="361188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36118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234440" y="3630168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Preprocessing Pipeline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9418320" y="37033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Salman Baig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48640" y="4297680"/>
            <a:ext cx="11247120" cy="0"/>
          </a:xfrm>
          <a:prstGeom prst="line">
            <a:avLst/>
          </a:prstGeom>
          <a:noFill/>
          <a:ln w="9525">
            <a:solidFill>
              <a:srgbClr val="1C7293">
                <a:alpha val="40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48640" y="448056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0" name="Text 18"/>
          <p:cNvSpPr/>
          <p:nvPr/>
        </p:nvSpPr>
        <p:spPr>
          <a:xfrm>
            <a:off x="548640" y="44805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234440" y="4498848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 &amp; Selection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9418320" y="457200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Marshall Marlow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48640" y="5166360"/>
            <a:ext cx="11247120" cy="0"/>
          </a:xfrm>
          <a:prstGeom prst="line">
            <a:avLst/>
          </a:prstGeom>
          <a:noFill/>
          <a:ln w="9525">
            <a:solidFill>
              <a:srgbClr val="1C7293">
                <a:alpha val="40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48640" y="534924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5" name="Text 23"/>
          <p:cNvSpPr/>
          <p:nvPr/>
        </p:nvSpPr>
        <p:spPr>
          <a:xfrm>
            <a:off x="548640" y="53492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1234440" y="5367528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Baseline Model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9418320" y="544068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Doris Onyeanula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Telco Customer Churn Prediction  |  Milestone 1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2026-09-25T20:11:38Z</dcterms:created>
  <dcterms:modified xsi:type="dcterms:W3CDTF">2026-09-25T20:11:38Z</dcterms:modified>
</cp:coreProperties>
</file>