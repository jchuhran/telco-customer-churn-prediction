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D4B407-78EC-4F5D-AFBE-96F3A4AD01E8}" v="1" dt="2026-10-20T16:53:05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Chuhran" userId="31b4235c5a5b49fc" providerId="LiveId" clId="{09DBF263-E4A6-4EB5-A1BB-FB490A486BEE}"/>
    <pc:docChg chg="undo custSel modSld">
      <pc:chgData name="Joshua Chuhran" userId="31b4235c5a5b49fc" providerId="LiveId" clId="{09DBF263-E4A6-4EB5-A1BB-FB490A486BEE}" dt="2026-10-20T16:53:44.790" v="51" actId="207"/>
      <pc:docMkLst>
        <pc:docMk/>
      </pc:docMkLst>
      <pc:sldChg chg="modSp mod">
        <pc:chgData name="Joshua Chuhran" userId="31b4235c5a5b49fc" providerId="LiveId" clId="{09DBF263-E4A6-4EB5-A1BB-FB490A486BEE}" dt="2026-10-20T16:53:02.006" v="39" actId="207"/>
        <pc:sldMkLst>
          <pc:docMk/>
          <pc:sldMk cId="0" sldId="256"/>
        </pc:sldMkLst>
        <pc:spChg chg="mod">
          <ac:chgData name="Joshua Chuhran" userId="31b4235c5a5b49fc" providerId="LiveId" clId="{09DBF263-E4A6-4EB5-A1BB-FB490A486BEE}" dt="2026-10-20T16:53:02.006" v="39" actId="20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Joshua Chuhran" userId="31b4235c5a5b49fc" providerId="LiveId" clId="{09DBF263-E4A6-4EB5-A1BB-FB490A486BEE}" dt="2026-10-20T16:53:07.205" v="42"/>
        <pc:sldMkLst>
          <pc:docMk/>
          <pc:sldMk cId="0" sldId="257"/>
        </pc:sldMkLst>
        <pc:spChg chg="mod">
          <ac:chgData name="Joshua Chuhran" userId="31b4235c5a5b49fc" providerId="LiveId" clId="{09DBF263-E4A6-4EB5-A1BB-FB490A486BEE}" dt="2026-10-20T16:52:52.644" v="38" actId="207"/>
          <ac:spMkLst>
            <pc:docMk/>
            <pc:sldMk cId="0" sldId="257"/>
            <ac:spMk id="4" creationId="{00000000-0000-0000-0000-000000000000}"/>
          </ac:spMkLst>
        </pc:spChg>
        <pc:spChg chg="mod">
          <ac:chgData name="Joshua Chuhran" userId="31b4235c5a5b49fc" providerId="LiveId" clId="{09DBF263-E4A6-4EB5-A1BB-FB490A486BEE}" dt="2026-10-20T16:52:50.697" v="37" actId="207"/>
          <ac:spMkLst>
            <pc:docMk/>
            <pc:sldMk cId="0" sldId="257"/>
            <ac:spMk id="5" creationId="{00000000-0000-0000-0000-000000000000}"/>
          </ac:spMkLst>
        </pc:spChg>
        <pc:spChg chg="mod">
          <ac:chgData name="Joshua Chuhran" userId="31b4235c5a5b49fc" providerId="LiveId" clId="{09DBF263-E4A6-4EB5-A1BB-FB490A486BEE}" dt="2026-10-20T16:52:47.484" v="36" actId="207"/>
          <ac:spMkLst>
            <pc:docMk/>
            <pc:sldMk cId="0" sldId="257"/>
            <ac:spMk id="6" creationId="{00000000-0000-0000-0000-000000000000}"/>
          </ac:spMkLst>
        </pc:spChg>
        <pc:spChg chg="add del mod">
          <ac:chgData name="Joshua Chuhran" userId="31b4235c5a5b49fc" providerId="LiveId" clId="{09DBF263-E4A6-4EB5-A1BB-FB490A486BEE}" dt="2026-10-20T16:53:07.205" v="42"/>
          <ac:spMkLst>
            <pc:docMk/>
            <pc:sldMk cId="0" sldId="257"/>
            <ac:spMk id="7" creationId="{887A7EE8-7DCA-A5AC-3B8C-46892E34D0B9}"/>
          </ac:spMkLst>
        </pc:spChg>
      </pc:sldChg>
      <pc:sldChg chg="modSp mod">
        <pc:chgData name="Joshua Chuhran" userId="31b4235c5a5b49fc" providerId="LiveId" clId="{09DBF263-E4A6-4EB5-A1BB-FB490A486BEE}" dt="2026-10-20T16:53:19.689" v="44" actId="207"/>
        <pc:sldMkLst>
          <pc:docMk/>
          <pc:sldMk cId="0" sldId="260"/>
        </pc:sldMkLst>
        <pc:spChg chg="mod">
          <ac:chgData name="Joshua Chuhran" userId="31b4235c5a5b49fc" providerId="LiveId" clId="{09DBF263-E4A6-4EB5-A1BB-FB490A486BEE}" dt="2026-10-20T16:53:17.268" v="43" actId="207"/>
          <ac:spMkLst>
            <pc:docMk/>
            <pc:sldMk cId="0" sldId="260"/>
            <ac:spMk id="4" creationId="{00000000-0000-0000-0000-000000000000}"/>
          </ac:spMkLst>
        </pc:spChg>
        <pc:spChg chg="mod">
          <ac:chgData name="Joshua Chuhran" userId="31b4235c5a5b49fc" providerId="LiveId" clId="{09DBF263-E4A6-4EB5-A1BB-FB490A486BEE}" dt="2026-10-20T16:53:19.689" v="44" actId="207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Joshua Chuhran" userId="31b4235c5a5b49fc" providerId="LiveId" clId="{09DBF263-E4A6-4EB5-A1BB-FB490A486BEE}" dt="2026-10-20T16:53:44.790" v="51" actId="207"/>
        <pc:sldMkLst>
          <pc:docMk/>
          <pc:sldMk cId="0" sldId="262"/>
        </pc:sldMkLst>
        <pc:spChg chg="mod">
          <ac:chgData name="Joshua Chuhran" userId="31b4235c5a5b49fc" providerId="LiveId" clId="{09DBF263-E4A6-4EB5-A1BB-FB490A486BEE}" dt="2026-10-20T16:53:28.457" v="45" actId="207"/>
          <ac:spMkLst>
            <pc:docMk/>
            <pc:sldMk cId="0" sldId="262"/>
            <ac:spMk id="4" creationId="{00000000-0000-0000-0000-000000000000}"/>
          </ac:spMkLst>
        </pc:spChg>
        <pc:spChg chg="mod">
          <ac:chgData name="Joshua Chuhran" userId="31b4235c5a5b49fc" providerId="LiveId" clId="{09DBF263-E4A6-4EB5-A1BB-FB490A486BEE}" dt="2026-10-20T16:53:39.927" v="49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Joshua Chuhran" userId="31b4235c5a5b49fc" providerId="LiveId" clId="{09DBF263-E4A6-4EB5-A1BB-FB490A486BEE}" dt="2026-10-20T16:53:42.488" v="50" actId="207"/>
          <ac:spMkLst>
            <pc:docMk/>
            <pc:sldMk cId="0" sldId="262"/>
            <ac:spMk id="6" creationId="{00000000-0000-0000-0000-000000000000}"/>
          </ac:spMkLst>
        </pc:spChg>
        <pc:spChg chg="mod">
          <ac:chgData name="Joshua Chuhran" userId="31b4235c5a5b49fc" providerId="LiveId" clId="{09DBF263-E4A6-4EB5-A1BB-FB490A486BEE}" dt="2026-10-20T16:53:44.790" v="51" actId="207"/>
          <ac:spMkLst>
            <pc:docMk/>
            <pc:sldMk cId="0" sldId="262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rPr dirty="0"/>
              <a:t>IT4793 CAPSTONE  ·  MILESTONE 2 PROGRESS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Telco Customer Churn Prediction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rPr dirty="0"/>
              <a:t>Feature Engineering, Baseline Modeling, and Diagnostic Summary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Joshua Chuhran   ·   Doris </a:t>
            </a:r>
            <a:r>
              <a:rPr dirty="0" err="1">
                <a:solidFill>
                  <a:schemeClr val="bg1"/>
                </a:solidFill>
              </a:rPr>
              <a:t>Onyeanula</a:t>
            </a:r>
            <a:r>
              <a:rPr dirty="0">
                <a:solidFill>
                  <a:schemeClr val="bg1"/>
                </a:solidFill>
              </a:rPr>
              <a:t>   ·   Alex Clark   ·   Salman Baig   ·   Marshall Marlow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rPr dirty="0"/>
              <a:t>Kennesaw State University  ·  College of Computing and Software Engineering  · 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TELCO CUSTOMER CHURN PREDICTION  |  MILESTONE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Overview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rPr lang="en-US" dirty="0"/>
              <a:t>Project Objective</a:t>
            </a:r>
            <a:endParaRPr dirty="0"/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Customer churn directly erodes recurring telecom revenue. Predictive analytics allows retention teams to flag at-risk subscribers early and intervene proactively.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rPr dirty="0"/>
              <a:t>Dataset Profile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IBM / Kaggle Telco Customer Churn dataset covering demographics, account tenure, subscribed services, and payment details across 7,000+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69572" y="182880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rPr dirty="0"/>
              <a:t>Core Evaluation Focus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Primary evaluation metrics target F1-Score &amp; PR-AUC (Precision-Recall Area Under Curve) to effectively manage class imbalance (~26.6% churn rate).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TELCO CUSTOMER CHURN PREDICTION  |  MILESTONE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Team &amp;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Joshua Chuhran  |  Team Leader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Project management, repo structure, Gantt tracking, slide deck coordination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06040"/>
            <a:ext cx="10698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Alex Clark  |  EDA &amp; Cleaning Lead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Data cleaning script (eda_cleaning.py), exploratory findings,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10698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Salman Baig  |  Preprocessing Lead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Dataset acquisition, missing value handling, preprocessing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526280"/>
            <a:ext cx="10698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Marshall Marlow  |  Feature Engineering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Feature engineering script (feature_engineering.py), tenure binning, service aggregation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10698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Doris Onyeanula  |  Modeling Lead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Baseline model execution (LogisticRegression), metric scoring, diagnostic visualizations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TELCO CUSTOMER CHURN PREDICTION  |  MILESTONE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Milestone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Milestone #1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Sep 25, 2026</a:t>
            </a:r>
            <a:br/>
            <a:endParaRPr/>
          </a:p>
          <a:p>
            <a:pPr>
              <a:defRPr sz="1300">
                <a:solidFill>
                  <a:srgbClr val="334155"/>
                </a:solidFill>
              </a:defRPr>
            </a:pPr>
            <a:r>
              <a:t>Project Plan · Repo Setup · Preliminary Exploration</a:t>
            </a:r>
            <a:br/>
            <a:br/>
            <a:endParaRPr/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[COMPLETED]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011680"/>
            <a:ext cx="2560320" cy="3840480"/>
          </a:xfrm>
          <a:prstGeom prst="roundRect">
            <a:avLst/>
          </a:prstGeom>
          <a:solidFill>
            <a:srgbClr val="0F172A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284C7"/>
                </a:solidFill>
              </a:defRPr>
            </a:pPr>
            <a:r>
              <a:t>Milestone #2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Oct 20, 2026</a:t>
            </a:r>
            <a:br/>
            <a:endParaRPr/>
          </a:p>
          <a:p>
            <a:pPr>
              <a:defRPr sz="1300">
                <a:solidFill>
                  <a:srgbClr val="FFFFFF"/>
                </a:solidFill>
              </a:defRPr>
            </a:pPr>
            <a:r>
              <a:t>Feature Engineering · Baseline Model · Diagnostics</a:t>
            </a:r>
            <a:br/>
            <a:br/>
            <a:endParaRPr/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[WE ARE HERE]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25603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Milestone #3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Nov 10, 2026</a:t>
            </a:r>
            <a:br/>
            <a:endParaRPr/>
          </a:p>
          <a:p>
            <a:pPr>
              <a:defRPr sz="1300">
                <a:solidFill>
                  <a:srgbClr val="334155"/>
                </a:solidFill>
              </a:defRPr>
            </a:pPr>
            <a:r>
              <a:t>Advanced Tuning · Evaluation (F1 / PR-AUC) · Draft Docs</a:t>
            </a:r>
            <a:br/>
            <a:br/>
            <a:endParaRPr/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[UPCOMING]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011680"/>
            <a:ext cx="25603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Final Submission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TBD</a:t>
            </a:r>
            <a:br/>
            <a:endParaRPr/>
          </a:p>
          <a:p>
            <a:pPr>
              <a:defRPr sz="1300">
                <a:solidFill>
                  <a:srgbClr val="334155"/>
                </a:solidFill>
              </a:defRPr>
            </a:pPr>
            <a:r>
              <a:t>Final Codebase · Live Website · Presentation Deck</a:t>
            </a:r>
            <a:br/>
            <a:br/>
            <a:endParaRPr/>
          </a:p>
          <a:p>
            <a:pPr>
              <a:defRPr sz="1200" b="1">
                <a:solidFill>
                  <a:srgbClr val="0284C7"/>
                </a:solidFill>
              </a:defRPr>
            </a:pPr>
            <a:r>
              <a:t>[UPCOMING]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TELCO CUSTOMER CHURN PREDICTION  |  MILESTONE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 Cleaning &amp; Feature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rPr dirty="0"/>
              <a:t>Data Cleaning (eda_cleaning.py)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• </a:t>
            </a:r>
            <a:r>
              <a:rPr dirty="0" err="1">
                <a:solidFill>
                  <a:schemeClr val="tx1"/>
                </a:solidFill>
              </a:rPr>
              <a:t>TotalCharges</a:t>
            </a:r>
            <a:r>
              <a:rPr dirty="0">
                <a:solidFill>
                  <a:schemeClr val="tx1"/>
                </a:solidFill>
              </a:rPr>
              <a:t> coerced to numeric.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• Dropped 11 blank rows (0-tenure accounts).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• Clean shape: 7,032 rows × 20 columns.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• Churn mapped to binary int (26.6% churn rate).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• </a:t>
            </a:r>
            <a:r>
              <a:rPr dirty="0" err="1">
                <a:solidFill>
                  <a:schemeClr val="tx1"/>
                </a:solidFill>
              </a:rPr>
              <a:t>customerID</a:t>
            </a:r>
            <a:r>
              <a:rPr dirty="0">
                <a:solidFill>
                  <a:schemeClr val="tx1"/>
                </a:solidFill>
              </a:rPr>
              <a:t> dropped as uninformative.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rPr dirty="0"/>
              <a:t>Feature Engineering (feature_engineering.py)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• </a:t>
            </a:r>
            <a:r>
              <a:rPr dirty="0" err="1">
                <a:solidFill>
                  <a:schemeClr val="tx1"/>
                </a:solidFill>
              </a:rPr>
              <a:t>TenureGroup</a:t>
            </a:r>
            <a:r>
              <a:rPr dirty="0">
                <a:solidFill>
                  <a:schemeClr val="tx1"/>
                </a:solidFill>
              </a:rPr>
              <a:t>: Binned tenure into New, Short-term, Established, &amp; Long-term.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• </a:t>
            </a:r>
            <a:r>
              <a:rPr dirty="0" err="1">
                <a:solidFill>
                  <a:schemeClr val="tx1"/>
                </a:solidFill>
              </a:rPr>
              <a:t>NumServices</a:t>
            </a:r>
            <a:r>
              <a:rPr dirty="0">
                <a:solidFill>
                  <a:schemeClr val="tx1"/>
                </a:solidFill>
              </a:rPr>
              <a:t>: Aggregated 8 phone/internet service add-ons.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• </a:t>
            </a:r>
            <a:r>
              <a:rPr dirty="0" err="1">
                <a:solidFill>
                  <a:schemeClr val="tx1"/>
                </a:solidFill>
              </a:rPr>
              <a:t>MonthlyChargePerService</a:t>
            </a:r>
            <a:r>
              <a:rPr dirty="0">
                <a:solidFill>
                  <a:schemeClr val="tx1"/>
                </a:solidFill>
              </a:rPr>
              <a:t>: Derived service charge density (</a:t>
            </a:r>
            <a:r>
              <a:rPr dirty="0" err="1">
                <a:solidFill>
                  <a:schemeClr val="tx1"/>
                </a:solidFill>
              </a:rPr>
              <a:t>MonthlyCharges</a:t>
            </a:r>
            <a:r>
              <a:rPr dirty="0">
                <a:solidFill>
                  <a:schemeClr val="tx1"/>
                </a:solidFill>
              </a:rPr>
              <a:t> / </a:t>
            </a:r>
            <a:r>
              <a:rPr dirty="0" err="1">
                <a:solidFill>
                  <a:schemeClr val="tx1"/>
                </a:solidFill>
              </a:rPr>
              <a:t>NumServices</a:t>
            </a:r>
            <a:r>
              <a:rPr dirty="0">
                <a:solidFill>
                  <a:schemeClr val="tx1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TELCO CUSTOMER CHURN PREDICTION  |  MILESTONE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Baseline Model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334155"/>
                </a:solidFill>
              </a:defRPr>
            </a:pPr>
            <a:r>
              <a:t>Accuracy</a:t>
            </a:r>
          </a:p>
          <a:p>
            <a:pPr>
              <a:defRPr sz="2800" b="1">
                <a:solidFill>
                  <a:srgbClr val="0284C7"/>
                </a:solidFill>
              </a:defRPr>
            </a:pPr>
            <a:r>
              <a:t>80.34%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Overall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1" y="1828800"/>
            <a:ext cx="2011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334155"/>
                </a:solidFill>
              </a:defRPr>
            </a:pPr>
            <a:r>
              <a:t>Precision</a:t>
            </a:r>
          </a:p>
          <a:p>
            <a:pPr>
              <a:defRPr sz="2800" b="1">
                <a:solidFill>
                  <a:srgbClr val="0284C7"/>
                </a:solidFill>
              </a:defRPr>
            </a:pPr>
            <a:r>
              <a:t>0.658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Positive Churn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828800"/>
            <a:ext cx="2011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334155"/>
                </a:solidFill>
              </a:defRPr>
            </a:pPr>
            <a:r>
              <a:t>Recall</a:t>
            </a:r>
          </a:p>
          <a:p>
            <a:pPr>
              <a:defRPr sz="2800" b="1">
                <a:solidFill>
                  <a:srgbClr val="0284C7"/>
                </a:solidFill>
              </a:defRPr>
            </a:pPr>
            <a:r>
              <a:t>0.548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Actual Churn Detected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828800"/>
            <a:ext cx="2011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334155"/>
                </a:solidFill>
              </a:defRPr>
            </a:pPr>
            <a:r>
              <a:t>F1-Score</a:t>
            </a:r>
          </a:p>
          <a:p>
            <a:pPr>
              <a:defRPr sz="2800" b="1">
                <a:solidFill>
                  <a:srgbClr val="0284C7"/>
                </a:solidFill>
              </a:defRPr>
            </a:pPr>
            <a:r>
              <a:t>0.598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Primary Target Metric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828800"/>
            <a:ext cx="2011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334155"/>
                </a:solidFill>
              </a:defRPr>
            </a:pPr>
            <a:r>
              <a:t>PR-AUC</a:t>
            </a:r>
          </a:p>
          <a:p>
            <a:pPr>
              <a:defRPr sz="2800" b="1">
                <a:solidFill>
                  <a:srgbClr val="0284C7"/>
                </a:solidFill>
              </a:defRPr>
            </a:pPr>
            <a:r>
              <a:t>0.651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Primary Target 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1069848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Baseline Diagnostic Takeaways: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Model Architecture: Logistic Regression with StandardScaler and OneHotEncoder on an 80/20 stratified split.</a:t>
            </a:r>
            <a:br/>
            <a:r>
              <a:t>• Confusion Matrix Breakdown: True Negatives = 927 | False Positives = 106 | False Negatives = 169 | True Positives = 205.</a:t>
            </a:r>
            <a:br/>
            <a:r>
              <a:t>• Strategic Focus for Milestone 3: Recall (0.548) indicates ~45% of churners are missed. Class weight tuning and tree ensembles (XGBoost/RandomForest) will be used to boost F1-Score &amp; PR-AUC.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TELCO CUSTOMER CHURN PREDICTION  |  MILESTONE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Milestone Progress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rPr dirty="0"/>
              <a:t>1. Address Class Imbalance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Apply class weighting (</a:t>
            </a:r>
            <a:r>
              <a:rPr dirty="0" err="1">
                <a:solidFill>
                  <a:schemeClr val="tx1"/>
                </a:solidFill>
              </a:rPr>
              <a:t>class_weight</a:t>
            </a:r>
            <a:r>
              <a:rPr dirty="0">
                <a:solidFill>
                  <a:schemeClr val="tx1"/>
                </a:solidFill>
              </a:rPr>
              <a:t>='balanced') and SMOTE sampling to increase Churn Recall above 0.70.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rPr dirty="0"/>
              <a:t>2. Advanced Tree Ensembles</a:t>
            </a:r>
            <a:endParaRPr lang="en-US" dirty="0"/>
          </a:p>
          <a:p>
            <a:pPr algn="ctr">
              <a:defRPr sz="1500" b="1">
                <a:solidFill>
                  <a:srgbClr val="0284C7"/>
                </a:solidFill>
              </a:defRPr>
            </a:pPr>
            <a:endParaRPr dirty="0"/>
          </a:p>
          <a:p>
            <a:r>
              <a:rPr dirty="0">
                <a:solidFill>
                  <a:schemeClr val="tx1"/>
                </a:solidFill>
              </a:rPr>
              <a:t>Implement and evaluate Random Forest, </a:t>
            </a:r>
            <a:r>
              <a:rPr dirty="0" err="1">
                <a:solidFill>
                  <a:schemeClr val="tx1"/>
                </a:solidFill>
              </a:rPr>
              <a:t>XGBoost</a:t>
            </a:r>
            <a:r>
              <a:rPr dirty="0">
                <a:solidFill>
                  <a:schemeClr val="tx1"/>
                </a:solidFill>
              </a:rPr>
              <a:t>, and </a:t>
            </a:r>
            <a:r>
              <a:rPr dirty="0" err="1">
                <a:solidFill>
                  <a:schemeClr val="tx1"/>
                </a:solidFill>
              </a:rPr>
              <a:t>LightGBM</a:t>
            </a:r>
            <a:r>
              <a:rPr dirty="0">
                <a:solidFill>
                  <a:schemeClr val="tx1"/>
                </a:solidFill>
              </a:rPr>
              <a:t> models per the milestone plan.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rPr dirty="0"/>
              <a:t>3. Decision Threshold Tuning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Optimize classification probability thresholds away from 0.5 to maximize PR-AUC and F1 scores.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rPr dirty="0"/>
              <a:t>4. GitHub Site &amp; Final Docs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Finalize public GitHub Pages documentation hub and draft technical user manuals.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671</Words>
  <Application>Microsoft Office PowerPoint</Application>
  <PresentationFormat>Widescreen</PresentationFormat>
  <Paragraphs>79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Joshua Chuhran</cp:lastModifiedBy>
  <cp:revision>1</cp:revision>
  <dcterms:created xsi:type="dcterms:W3CDTF">2013-01-27T09:14:16Z</dcterms:created>
  <dcterms:modified xsi:type="dcterms:W3CDTF">2026-10-20T16:53:53Z</dcterms:modified>
  <cp:category/>
</cp:coreProperties>
</file>